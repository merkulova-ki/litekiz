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Открываем слоганом и полным названием. Не объясняем ничего — следующий слайд про проблему.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расхождения между кодами и остатками не видны ни в одном из двух кабинетов — и отвечает за них продавец. Цитаты реальные, с датами; источники — в базе знаний проекта, konkurenty.md.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УТП читается дословно, без пересказа. Три карточки внизу — опора для устного объяснения: сводит, находит, считает.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для сверки нужны обе интеграции одновременно — поэтому её нет ни у сервисов аналитики, ни у сервисов маркировки. Строка результата — настоящая, из демо-данных.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стоит задержаться: каждый класс — отдельные деньги. Формулы — из движка сверки, себестоимость в прототипе — заглушка 55 % от цены карточки. Все цифры — «около N штук» и с временем среза данных: честная приблизительность вместо ложной точности. Ни один из четырёх классов не виден ни в кабинете площадки, ни в кабинете «Честного ЗНАКа».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переходим к живому показу, если он работает: сводка → клик по классу → список → смена статуса. Если нет — запись экрана. Данные демонстрационные, сознательно «грязные». Главное отличие от «отчёта»: расхождение становится задачей и не теряется при следующей сверке — новые пересоздаются, взятые в работу обновляются по цифрам. Ещё два экрана — «Товары» (карточки площадок сшиты в один товар по штрихкоду и артикулу: 14 автоматически, 4 ждут ручного сопоставления) и «Кабинеты и ключи» (ключи только шифртекстом; токен WB 180 дней, ключ Ozon 3 месяца, токен ГИС МТ около 10 часов, система предупреждает заранее). Снимки кабинета на демо-данных, 06.10.2026.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Движок сверки настоящий: генератор пишет в те же таблицы, что будут писать реальные сборщики, — ни движок, ни интерфейс не знают о подмене. Когда появятся боевые ключи, меняется только слой сбора. Интерфейс не ходит во внешние API, потому что у Wildberries лимит 1 запрос в минуту по критичным методам — запрос при открытии страницы положил бы систему на первом пользователе. Стек: Python 3.12, FastAPI, SQLModel, PostgreSQL 16, React 19, Vite, Docker, Fernet для шифрования ключей (ключ шифрования вне базы). Ещё нет экономики единицы товара. Честность здесь работает на нас: вопрос «а что не сделано» зададут в любом случае.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Оговорить честно: рынок продавцов не растёт, растёт доля маркированного товара и строгость контроля. Волна 01.12.2026 — главное окно для пилотов. Источники: открытые данные, анализ рынка команды, сентябрь 2026 — даты сверить перед защитой.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«Частично» у MarkZnak — сверка возвратных КИЗ по финотчётам WB; у GetMark — ручная платная услуга сопровождения; ЦРПТ рекомендует вести связку «заказ — код» вручную. Цена Saby — только модуль маркировки, площадки отдельно от 9 000 ₽ в год. Цены — официальные сайты и справки на 06.10.2026; «за год» — годовая подписка в пересчёте на месяц. Где мы слабее, говорить честно: подпись от имени клиента не решена (у Контура, МойСклад, GetMark это пройдено); цикл не закрываем — заказ кодов и УПД продавец берёт у других; прототип на демо-данных, две площадки, небольшая команда; остатки приходят срезами, поэтому у нас «около N штук». На вопрос «что мешает большому игроку»: ничего, кроме приоритетов — оба уже держат обе стороны данных. Наш ответ — скорость, глубина (деньги, статусы, история, уведомления) и партнёрский канал через фулфилменты и бухгалтерии. Полная таблица — litekiz-konkurenty.png в папке бренда.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тарифах только то, что есть в продукте или стоит в роадмапе на ближайший месяц. Логика бесплатного тарифа — показать проблему, а не ограничить объём. «Кодов в месяц» — единица сервисов заказа кодов, а мы коды не заказываем. Сверх лимитов: +490 ₽ за кабинет и за каждые 50 000 кодов; год — 10 месяцев по цене 12. Якоря: MarkZnak от 1 499, Контур ≈3 300, SelSup ≈4 000 ₽/мес; цены — гипотезы до пилотов. Проверить в пилотах: понятна ли единица, что из «Базового» заставляет платить, готовность платить 2 000 против 5 000.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Первой идёт авторизация в «Честном ЗНАКе» — самая рискованная часть: если криптография не заведётся, это выяснится в октябре, когда объём ещё можно перестроить. Команда 2–3 человека полный день; цифры по клиентам — цели-гипотезы. Внешние даты: 01.10.2026 — закон о платформенной экономике, 01.12.2026 — новые категории под маркировкой; к январю–февралю у новичков копятся первые расхождения. Полная карта с внешними датами и рисками — litekiz-roadmap-okt2026-mar2027.png в папке бренда.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Назвать риск самим, до вопроса из зала. МЧД — машиночитаемая доверенность, УКЭП — усиленная квалифицированная электронная подпись. Три варианта подписи — из концепции; выбор делается в октябре по результатам работы с песочницей.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— слоган и приглашение к вопросам. Ожидаемые вопросы. 1) Почему цифры приблизительные? Остатки площадок приходят срезами и с задержкой, у Wildberries лимит 1 запрос в минуту; точность до штуки была бы ложной — поэтому «около N» и время среза. 2) Почему интерфейс не ходит в API площадок? Из-за лимитов запрос при открытии страницы положил бы систему; сборщики наполняют базу по расписанию, интерфейс читает готовое. 3) Почему повторная сверка не создаёт дубли? Новые расхождения пересоздаются, взятые в работу обновляются по цифрам с сохранением статуса. 4) Чем отличаетесь от SelSup, GetMark, Контура? Они закрывают полный цикл; сверки остатков с кодами у них нет — для неё нужны обе интеграции сразу. 5) Почему 1 990 ₽? Коридор рынка 1 500–5 000 ₽ в месяц; мы дополнение к полному циклу, значит дешевле; цена — гипотеза до пилотов. 6) Что, если МойСклад сделает то же бесплатно? Риск реальный; наш ответ — скорость, глубина и партнёрский канал. Термины: ГИС МТ — государственная система мониторинга товаров, основа «Честного ЗНАКа»; КИЗ — код маркировки, 0,61 ₽ за код; GTIN — номер товара, EAN-13 становится GTIN-14 с ведущим нулём; FBO/FBW — склад площадки, FBS — склад продавца; УКЭП — квалифицированная электронная подпись, МЧД — машиночитаемая доверенность; True API и СУЗ — интерфейсы «Честного ЗНАКа»; УПД — электронная накладная с кодами.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K_TITLE">
    <p:bg>
      <p:bgPr>
        <a:solidFill>
          <a:srgbClr val="1D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K_CONTENT">
    <p:bg>
      <p:bgPr>
        <a:solidFill>
          <a:srgbClr val="1D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K_ACCENT">
    <p:bg>
      <p:bgPr>
        <a:solidFill>
          <a:srgbClr val="34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8B7C2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K_CLOSING">
    <p:bg>
      <p:bgPr>
        <a:solidFill>
          <a:srgbClr val="34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tek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"/>
            <a:ext cx="1750765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ПРОДАВЦОВ МАРКИРОВАННЫХ ТОВАРОВ НА МАРКЕТПЛЕЙСАХ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Коды считаны,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деньги посчитаны.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690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— единая панель контроля маркированного товара: коды «Честного ЗНАКа», остатки и движение товара по всем площадкам.</a:t>
            </a:r>
            <a:endParaRPr lang="en-US" sz="1800" dirty="0"/>
          </a:p>
        </p:txBody>
      </p:sp>
      <p:pic>
        <p:nvPicPr>
          <p:cNvPr id="6" name="Image 1" descr="Знак liteki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497" y="1783080"/>
            <a:ext cx="2546518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Две системы не видят друг друга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6218" cy="1965960"/>
          </a:xfrm>
          <a:prstGeom prst="roundRect">
            <a:avLst>
              <a:gd name="adj" fmla="val 558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0744" y="1783080"/>
            <a:ext cx="2515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ГИС МТ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42032"/>
            <a:ext cx="311901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Знает коды: заказан, нанесён, в обороте, выбыл. Остатков на складах площадок не видит.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07738" y="1600200"/>
            <a:ext cx="3576218" cy="1965960"/>
          </a:xfrm>
          <a:prstGeom prst="roundRect">
            <a:avLst>
              <a:gd name="adj" fmla="val 558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38" y="19431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39842" y="1783080"/>
            <a:ext cx="2515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Маркетплейс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36338" y="2542032"/>
            <a:ext cx="311901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Знает остатки, продажи и возвраты. Расхождений с «Честным ЗНАКом» продавцу не показывает.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66837" y="1600200"/>
            <a:ext cx="3576218" cy="1965960"/>
          </a:xfrm>
          <a:prstGeom prst="roundRect">
            <a:avLst>
              <a:gd name="adj" fmla="val 5581"/>
            </a:avLst>
          </a:prstGeom>
          <a:solidFill>
            <a:srgbClr val="3430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95437" y="1828800"/>
            <a:ext cx="457200" cy="457200"/>
          </a:xfrm>
          <a:prstGeom prst="ellipse">
            <a:avLst/>
          </a:prstGeom>
          <a:solidFill>
            <a:srgbClr val="8B74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37" y="19431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98941" y="1783080"/>
            <a:ext cx="2515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Продавец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95437" y="2542032"/>
            <a:ext cx="311901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Отвечает за то, чтобы они совпадали. Штраф за продажу немаркированного товара — от 50 до 300 тыс. ₽.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749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 ГОВОРЯТ НА ПРАКТИКЕ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59936"/>
            <a:ext cx="3576218" cy="2112264"/>
          </a:xfrm>
          <a:prstGeom prst="roundRect">
            <a:avLst>
              <a:gd name="adj" fmla="val 5195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428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590288"/>
            <a:ext cx="311901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«Вайлдбериз не предоставляет отчёт по кизам из-за того, что товары были отгружены на их склад по QR-поставке»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641848"/>
            <a:ext cx="3119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продавец WB, сообщество markirovka.ru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07738" y="4059936"/>
            <a:ext cx="3576218" cy="2112264"/>
          </a:xfrm>
          <a:prstGeom prst="roundRect">
            <a:avLst>
              <a:gd name="adj" fmla="val 5195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338" y="424281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36338" y="4590288"/>
            <a:ext cx="311901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«Коды по-прежнему числятся как находящиеся в обороте» — после продажи на Ozon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536338" y="5641848"/>
            <a:ext cx="3119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продавец Ozon, mp-forum.ru, май 2025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66837" y="4059936"/>
            <a:ext cx="3576218" cy="2112264"/>
          </a:xfrm>
          <a:prstGeom prst="roundRect">
            <a:avLst>
              <a:gd name="adj" fmla="val 5195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5437" y="4242816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295437" y="4590288"/>
            <a:ext cx="311901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«Вывод из оборота не автоматический. Вы обязаны самостоятельно вывести КИЗ в течение 3 рабочих дней»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8295437" y="5641848"/>
            <a:ext cx="3119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 схеме FBS на Wildberries, klerk.ru, июль 2026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Одно окно для кодов и остатков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продавцов маркированных товаров на маркетплейсах мы создаём litekiz — единую панель контроля кодов «Честного ЗНАКа», остатков и движения товара по всем площадкам, которая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находит расхождения между ГИС МТ и площадками и считает, сколько они стоят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, в отличие от сервисов аналитики и сервисов маркировки, которые видят только одну сторону данных, потому что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 litekiz сводит обе стороны в одном окне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и превращает их в список проблем с ценой и статусом.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3576218" cy="1554480"/>
          </a:xfrm>
          <a:prstGeom prst="roundRect">
            <a:avLst>
              <a:gd name="adj" fmla="val 7059"/>
            </a:avLst>
          </a:prstGeom>
          <a:solidFill>
            <a:srgbClr val="1D1D2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8B74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4119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0744" y="4251960"/>
            <a:ext cx="2515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Сводит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010912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коды «Честного ЗНАКа» и остатки площадок в одном окне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07738" y="4069080"/>
            <a:ext cx="3576218" cy="1554480"/>
          </a:xfrm>
          <a:prstGeom prst="roundRect">
            <a:avLst>
              <a:gd name="adj" fmla="val 7059"/>
            </a:avLst>
          </a:prstGeom>
          <a:solidFill>
            <a:srgbClr val="1D1D23"/>
          </a:solidFill>
          <a:ln/>
        </p:spPr>
      </p:sp>
      <p:sp>
        <p:nvSpPr>
          <p:cNvPr id="11" name="Shape 8"/>
          <p:cNvSpPr/>
          <p:nvPr/>
        </p:nvSpPr>
        <p:spPr>
          <a:xfrm>
            <a:off x="4536338" y="4297680"/>
            <a:ext cx="457200" cy="457200"/>
          </a:xfrm>
          <a:prstGeom prst="ellipse">
            <a:avLst/>
          </a:prstGeom>
          <a:solidFill>
            <a:srgbClr val="8B74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38" y="44119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39842" y="4251960"/>
            <a:ext cx="2515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Находит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36338" y="5010912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расхождения четырёх классов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66837" y="4069080"/>
            <a:ext cx="3576218" cy="1554480"/>
          </a:xfrm>
          <a:prstGeom prst="roundRect">
            <a:avLst>
              <a:gd name="adj" fmla="val 7059"/>
            </a:avLst>
          </a:prstGeom>
          <a:solidFill>
            <a:srgbClr val="1D1D23"/>
          </a:solidFill>
          <a:ln/>
        </p:spPr>
      </p:sp>
      <p:sp>
        <p:nvSpPr>
          <p:cNvPr id="16" name="Shape 12"/>
          <p:cNvSpPr/>
          <p:nvPr/>
        </p:nvSpPr>
        <p:spPr>
          <a:xfrm>
            <a:off x="8295437" y="4297680"/>
            <a:ext cx="457200" cy="457200"/>
          </a:xfrm>
          <a:prstGeom prst="ellipse">
            <a:avLst/>
          </a:prstGeom>
          <a:solidFill>
            <a:srgbClr val="8B74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37" y="441198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98941" y="4251960"/>
            <a:ext cx="2515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Считает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95437" y="5010912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 сколько каждое обходится, и ведёт статус работы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8B7C2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 ЭТО РАБОТАЕТ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Из двух систем — в список проблем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017520" cy="3108960"/>
          </a:xfrm>
          <a:prstGeom prst="roundRect">
            <a:avLst>
              <a:gd name="adj" fmla="val 3636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0744" y="178308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ГИС МТ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коды маркировки по статусам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ввод и вывод из оборота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возвраты в оборот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True API · СУЗ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25535" y="1600200"/>
            <a:ext cx="3017520" cy="3108960"/>
          </a:xfrm>
          <a:prstGeom prst="roundRect">
            <a:avLst>
              <a:gd name="adj" fmla="val 3636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54135" y="1828800"/>
            <a:ext cx="457200" cy="457200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35" y="19431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457639" y="178308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Маркетплейсы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854135" y="25603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карточки товаров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остатки по складам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продажи и возвраты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854135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API продавца, без криптографии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971800"/>
            <a:ext cx="365760" cy="36576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335" y="2971800"/>
            <a:ext cx="36576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114800" y="1600200"/>
            <a:ext cx="3962095" cy="3108960"/>
          </a:xfrm>
          <a:prstGeom prst="roundRect">
            <a:avLst>
              <a:gd name="adj" fmla="val 3529"/>
            </a:avLst>
          </a:prstGeom>
          <a:solidFill>
            <a:srgbClr val="34305C"/>
          </a:solidFill>
          <a:ln/>
        </p:spPr>
      </p:sp>
      <p:pic>
        <p:nvPicPr>
          <p:cNvPr id="19" name="Image 4" descr="liteki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865376"/>
            <a:ext cx="137016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343400" y="2377440"/>
            <a:ext cx="3504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Единый справочник: карточки площадок сшиты с кодами по GTIN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Сверка кодов «в обороте» с фактическими остатками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Четыре класса расхождений с оценкой стоимости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Статус по каждому: новое → в работе → решено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9834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РЕЗУЛЬТАТ — СТРОКА ИЗ ДЕМО-ДАННЫХ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" y="5312664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77240" y="531266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Джинсы прямые, синий, XL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108960" y="5513832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452A3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5586984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529584" y="531266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39AA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Коды без товара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349240" y="531266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обороте 57 кодов, на складах 24 шт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7955280" y="531266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около 33 шт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9098280" y="531266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78 735 ₽</a:t>
            </a:r>
            <a:endParaRPr lang="en-US" sz="1700" dirty="0"/>
          </a:p>
        </p:txBody>
      </p:sp>
      <p:sp>
        <p:nvSpPr>
          <p:cNvPr id="30" name="Shape 22"/>
          <p:cNvSpPr/>
          <p:nvPr/>
        </p:nvSpPr>
        <p:spPr>
          <a:xfrm>
            <a:off x="10607040" y="5596128"/>
            <a:ext cx="182880" cy="182880"/>
          </a:xfrm>
          <a:prstGeom prst="ellipse">
            <a:avLst/>
          </a:prstGeom>
          <a:noFill/>
          <a:ln w="19050">
            <a:solidFill>
              <a:srgbClr val="9594A1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10881360" y="5312664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новое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СЕРДЦЕ ПРОДУКТА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Четыре класса расхождений с ценой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6444" cy="4590288"/>
          </a:xfrm>
          <a:prstGeom prst="roundRect">
            <a:avLst>
              <a:gd name="adj" fmla="val 4162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52A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41448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39AA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Коды без товара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Кодов в обороте больше, чем товара на складах: вероятна продажа без вывода из оборота.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6052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Грозит: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нарушение, штраф от 50 до 300 тыс. ₽ на юрлицо.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4983480"/>
            <a:ext cx="2362124" cy="1069848"/>
          </a:xfrm>
          <a:prstGeom prst="roundRect">
            <a:avLst>
              <a:gd name="adj" fmla="val 6838"/>
            </a:avLst>
          </a:prstGeom>
          <a:solidFill>
            <a:srgbClr val="1D1D2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248" y="5093208"/>
            <a:ext cx="21792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СЧИТАЕМ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5367528"/>
            <a:ext cx="20512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(в обороте − остаток) × себестоимость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67964" y="1600200"/>
            <a:ext cx="2636444" cy="4590288"/>
          </a:xfrm>
          <a:prstGeom prst="roundRect">
            <a:avLst>
              <a:gd name="adj" fmla="val 4162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96564" y="1828800"/>
            <a:ext cx="457200" cy="457200"/>
          </a:xfrm>
          <a:prstGeom prst="ellipse">
            <a:avLst/>
          </a:prstGeom>
          <a:solidFill>
            <a:srgbClr val="3E35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64" y="19431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96564" y="2441448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C56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Товар без кодов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596564" y="30632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Товара на складах больше, чем кодов в обороте: часть партии нечем отгружать.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596564" y="416052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Грозит: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простой, отказ в приёмке.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505124" y="4983480"/>
            <a:ext cx="2362124" cy="1069848"/>
          </a:xfrm>
          <a:prstGeom prst="roundRect">
            <a:avLst>
              <a:gd name="adj" fmla="val 6838"/>
            </a:avLst>
          </a:prstGeom>
          <a:solidFill>
            <a:srgbClr val="1D1D2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660572" y="5093208"/>
            <a:ext cx="21792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СЧИТАЕМ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3660572" y="5367528"/>
            <a:ext cx="20512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(остаток − в обороте) × себестоимость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87288" y="1600200"/>
            <a:ext cx="2636444" cy="4590288"/>
          </a:xfrm>
          <a:prstGeom prst="roundRect">
            <a:avLst>
              <a:gd name="adj" fmla="val 4162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15888" y="1828800"/>
            <a:ext cx="457200" cy="457200"/>
          </a:xfrm>
          <a:prstGeom prst="ellipse">
            <a:avLst/>
          </a:prstGeom>
          <a:solidFill>
            <a:srgbClr val="1F3B3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194310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15888" y="2441448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FD3C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Зависшие коды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415888" y="30632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Коды заказаны и оплачены, но не нанесены и не введены в оборот.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415888" y="416052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Грозит: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замороженные деньги, прямые потери.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324448" y="4983480"/>
            <a:ext cx="2362124" cy="1069848"/>
          </a:xfrm>
          <a:prstGeom prst="roundRect">
            <a:avLst>
              <a:gd name="adj" fmla="val 6838"/>
            </a:avLst>
          </a:prstGeom>
          <a:solidFill>
            <a:srgbClr val="1D1D2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479896" y="5093208"/>
            <a:ext cx="21792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СЧИТАЕМ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6479896" y="5367528"/>
            <a:ext cx="20512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коды × 0,61 ₽ за код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9006611" y="1600200"/>
            <a:ext cx="2636444" cy="4590288"/>
          </a:xfrm>
          <a:prstGeom prst="roundRect">
            <a:avLst>
              <a:gd name="adj" fmla="val 4162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235211" y="1828800"/>
            <a:ext cx="457200" cy="457200"/>
          </a:xfrm>
          <a:prstGeom prst="ellipse">
            <a:avLst/>
          </a:prstGeom>
          <a:solidFill>
            <a:srgbClr val="2E313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511" y="1943100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235211" y="2441448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CC2D6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Невозвращённые возвраты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9235211" y="30632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Товар вернулся, а код повторно в оборот не введён.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9235211" y="416052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Грозит: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товар «мёртвый» — продать повторно нельзя.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9143771" y="4983480"/>
            <a:ext cx="2362124" cy="1069848"/>
          </a:xfrm>
          <a:prstGeom prst="roundRect">
            <a:avLst>
              <a:gd name="adj" fmla="val 6838"/>
            </a:avLst>
          </a:prstGeom>
          <a:solidFill>
            <a:srgbClr val="1D1D23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9299219" y="5093208"/>
            <a:ext cx="21792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СЧИТАЕМ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9299219" y="5367528"/>
            <a:ext cx="20512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(возвраты − введено повторно) × себестоимость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 ЭТО ВЫГЛЯДИТ · ДЕМО-ДАННЫЕ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Риск в рублях и список задач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55768" cy="2555679"/>
          </a:xfrm>
          <a:prstGeom prst="roundRect">
            <a:avLst>
              <a:gd name="adj" fmla="val 4293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pic>
        <p:nvPicPr>
          <p:cNvPr id="5" name="Image 0" descr="Экран «Сводка» на демо-данны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272888" cy="23727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59302" y="1996307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59302" y="199630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59302" y="2402531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59302" y="240253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59302" y="2873531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359302" y="287353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87288" y="1600200"/>
            <a:ext cx="5455768" cy="2555679"/>
          </a:xfrm>
          <a:prstGeom prst="roundRect">
            <a:avLst>
              <a:gd name="adj" fmla="val 4293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pic>
        <p:nvPicPr>
          <p:cNvPr id="13" name="Image 1" descr="Экран «Расхождения» на демо-данны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691640"/>
            <a:ext cx="5272888" cy="237279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97949" y="1968546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997949" y="19685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79028" y="2079355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9579028" y="207935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0288759" y="2079355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0288759" y="207935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4494207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48640" y="449420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005840" y="4475919"/>
            <a:ext cx="499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373 560 ₽ под риском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по четырём классам — первое, что видит продавец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5061135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48640" y="50611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005840" y="5042847"/>
            <a:ext cx="499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Плитки: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расхождения, коды в обороте, остатки, товары, карточки без пары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48640" y="5628063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48640" y="562806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005840" y="5609775"/>
            <a:ext cx="499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Клик по классу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открывает список расхождений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187288" y="4494207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187288" y="449420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644488" y="4475919"/>
            <a:ext cx="499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Фильтры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 классу и статусу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187288" y="5061135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187288" y="50611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644488" y="5042847"/>
            <a:ext cx="499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26 позиций: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товар, класс, около N штук, оценка в рублях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187288" y="5628063"/>
            <a:ext cx="292608" cy="292608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187288" y="562806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6644488" y="5609775"/>
            <a:ext cx="499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Статус — это работа: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новое → в работе → решено; повторная сверка не плодит дублей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 УСТРОЕНО · ОКТЯБРЬ 2026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Что сделано — и чего честно нет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55536" cy="1371600"/>
          </a:xfrm>
          <a:prstGeom prst="roundRect">
            <a:avLst>
              <a:gd name="adj" fmla="val 8000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168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Сборщики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12264"/>
            <a:ext cx="1662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WB · Ozon · ГИС МТ; сейчас — генератор демо-данных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9896" y="2167128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33360" y="1600200"/>
            <a:ext cx="1955536" cy="1371600"/>
          </a:xfrm>
          <a:prstGeom prst="roundRect">
            <a:avLst>
              <a:gd name="adj" fmla="val 8000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6240" y="1764792"/>
            <a:ext cx="168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База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016240" y="2112264"/>
            <a:ext cx="1662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PostgreSQL; ключи клиентов — шифртекстом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616" y="216712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18080" y="1600200"/>
            <a:ext cx="1955536" cy="1371600"/>
          </a:xfrm>
          <a:prstGeom prst="roundRect">
            <a:avLst>
              <a:gd name="adj" fmla="val 8000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00960" y="1764792"/>
            <a:ext cx="168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Сопоставление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300960" y="2112264"/>
            <a:ext cx="1662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штрихкод → артикул → вручную; EAN‑13 → GTIN‑14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336" y="2167128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02800" y="1600200"/>
            <a:ext cx="1955536" cy="1371600"/>
          </a:xfrm>
          <a:prstGeom prst="roundRect">
            <a:avLst>
              <a:gd name="adj" fmla="val 8000"/>
            </a:avLst>
          </a:prstGeom>
          <a:solidFill>
            <a:srgbClr val="34305C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585680" y="1764792"/>
            <a:ext cx="168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2B6F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Движок сверки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585680" y="2112264"/>
            <a:ext cx="1662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четыре класса, оценка стоимости, без дублей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055" y="2167128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87519" y="1600200"/>
            <a:ext cx="1955536" cy="1371600"/>
          </a:xfrm>
          <a:prstGeom prst="roundRect">
            <a:avLst>
              <a:gd name="adj" fmla="val 8000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870399" y="1764792"/>
            <a:ext cx="168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Кабинет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9870399" y="2112264"/>
            <a:ext cx="1662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читает только свою базу, во внешние API не ходит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200400"/>
            <a:ext cx="5455768" cy="2907792"/>
          </a:xfrm>
          <a:prstGeom prst="roundRect">
            <a:avLst>
              <a:gd name="adj" fmla="val 3774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34290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Сделано</a:t>
            </a:r>
            <a:endParaRPr lang="en-US" sz="2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35247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07008" y="3977640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Движок сверки: 4 класса с оценкой стоимости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4307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07008" y="4385462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Сопоставление: штрихкод → артикул → вручную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85089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07008" y="4793285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Четыре экрана кабинета, сверка без дублей</a:t>
            </a:r>
            <a:endParaRPr lang="en-US" sz="14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258714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207008" y="5201107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Шифрование ключей и контроль их сроков</a:t>
            </a:r>
            <a:endParaRPr lang="en-US" sz="14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666537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207008" y="5608930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Бренд в коде, сборка в Docker одной командой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6187288" y="3200400"/>
            <a:ext cx="5455768" cy="2907792"/>
          </a:xfrm>
          <a:prstGeom prst="roundRect">
            <a:avLst>
              <a:gd name="adj" fmla="val 3774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6461608" y="34290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Сознательно нет — пока</a:t>
            </a:r>
            <a:endParaRPr lang="en-US" sz="20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1608" y="4035247"/>
            <a:ext cx="237744" cy="237744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845656" y="3977640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Подпись и авторизация в True API</a:t>
            </a:r>
            <a:endParaRPr lang="en-US" sz="14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1608" y="4443070"/>
            <a:ext cx="237744" cy="237744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845656" y="4385462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Реальные сборщики: пока генератор демо-данных</a:t>
            </a:r>
            <a:endParaRPr lang="en-US" sz="14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1608" y="4850892"/>
            <a:ext cx="237744" cy="237744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845656" y="4793285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Планировщик: сверка запускается кнопкой</a:t>
            </a:r>
            <a:endParaRPr lang="en-US" sz="14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1608" y="5258714"/>
            <a:ext cx="237744" cy="237744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6845656" y="5201107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Автотесты и миграции схемы</a:t>
            </a:r>
            <a:endParaRPr lang="en-US" sz="140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1608" y="5666537"/>
            <a:ext cx="237744" cy="237744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6845656" y="5608930"/>
            <a:ext cx="454136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Себестоимость — заглушка 55 % от цены</a:t>
            </a:r>
            <a:endParaRPr lang="en-US" sz="1400" dirty="0"/>
          </a:p>
        </p:txBody>
      </p:sp>
      <p:sp>
        <p:nvSpPr>
          <p:cNvPr id="47" name="Text 31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Маркировка входит в ядро ассортимента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6444" cy="1600200"/>
          </a:xfrm>
          <a:prstGeom prst="roundRect">
            <a:avLst>
              <a:gd name="adj" fmla="val 6857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8B74F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1,26 млн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04872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продавцов на Wildberries и Ozon,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7964" y="1600200"/>
            <a:ext cx="2636444" cy="1600200"/>
          </a:xfrm>
          <a:prstGeom prst="roundRect">
            <a:avLst>
              <a:gd name="adj" fmla="val 6857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1783080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8B74F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51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96564" y="2404872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товарная группа под обязательной маркировкой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7288" y="1600200"/>
            <a:ext cx="2636444" cy="1600200"/>
          </a:xfrm>
          <a:prstGeom prst="roundRect">
            <a:avLst>
              <a:gd name="adj" fmla="val 6857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1783080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8B74F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+33 %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404872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компаний в ГИС МТ за 2025 год — уже более 1 млн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611" y="1600200"/>
            <a:ext cx="2636444" cy="1600200"/>
          </a:xfrm>
          <a:prstGeom prst="roundRect">
            <a:avLst>
              <a:gd name="adj" fmla="val 6857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1783080"/>
            <a:ext cx="21792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39AA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50–300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211" y="2404872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тыс. ₽ — штраф юрлицу за продажу товара без маркировки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БЛИЖАЙШИЕ ДАТЫ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813048"/>
            <a:ext cx="10865815" cy="0"/>
          </a:xfrm>
          <a:prstGeom prst="line">
            <a:avLst/>
          </a:prstGeom>
          <a:noFill/>
          <a:ln w="15875">
            <a:solidFill>
              <a:srgbClr val="8B7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3739896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463186" y="3739896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2285" y="3739896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14216"/>
            <a:ext cx="3576218" cy="2157984"/>
          </a:xfrm>
          <a:prstGeom prst="roundRect">
            <a:avLst>
              <a:gd name="adj" fmla="val 5085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97096"/>
            <a:ext cx="31190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01.10.2026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617720"/>
            <a:ext cx="311901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Закон о платформенной экономике: площадки проверяют карточки по ГИС МТ, перепроверка не реже раза в 10 рабочих дней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07738" y="4014216"/>
            <a:ext cx="3576218" cy="2157984"/>
          </a:xfrm>
          <a:prstGeom prst="roundRect">
            <a:avLst>
              <a:gd name="adj" fmla="val 5085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6338" y="4197096"/>
            <a:ext cx="31190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01.12.2026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36338" y="4617720"/>
            <a:ext cx="311901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Старт маркировки косметики и бытовой химии, радиоэлектроники, стройматериалов — сотни тысяч продавцов впервые столкнутся с кодами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66837" y="4014216"/>
            <a:ext cx="3576218" cy="2157984"/>
          </a:xfrm>
          <a:prstGeom prst="roundRect">
            <a:avLst>
              <a:gd name="adj" fmla="val 5085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5437" y="4197096"/>
            <a:ext cx="31190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2027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295437" y="4617720"/>
            <a:ext cx="311901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Сладости — до 01.07.2027, бакалея — 01.12.2027. Число продавцов не растёт (−2 % год к году), растёт доля маркированного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КОНКУРЕНТЫ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Сверки кодов с остатками нет ни у кого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14654"/>
                <a:gridCol w="1114654"/>
                <a:gridCol w="1114654"/>
                <a:gridCol w="1114654"/>
                <a:gridCol w="1114654"/>
                <a:gridCol w="1114654"/>
                <a:gridCol w="111465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B7C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Критерий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2801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B6F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litekiz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7C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MarkZnak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7C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SelSup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7C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МойСклад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7C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GetMark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7C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Контур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7C2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Saby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Сверка кодов с остатками площадок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2801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C56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частично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C56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частично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Классы расхождений с ценой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2801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Площадки и ГИС МТ в одном окне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2801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C56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частично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C56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частично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C56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частично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Полный цикл: коды, печать, УПД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2801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Мультиюрлицо, мультикабинет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2801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C56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частично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594A1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FD3A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Цена от, ₽ в месяц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2801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 / 1 990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1 499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≈4 000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0–9 800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≈1 200 за год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≈3 300 за год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≈330 за год</a:t>
                      </a:r>
                      <a:endParaRPr lang="en-US" sz="13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4864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3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5455768" cy="1097280"/>
          </a:xfrm>
          <a:prstGeom prst="roundRect">
            <a:avLst>
              <a:gd name="adj" fmla="val 10000"/>
            </a:avLst>
          </a:prstGeom>
          <a:solidFill>
            <a:srgbClr val="34305C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184648"/>
            <a:ext cx="420624" cy="420624"/>
          </a:xfrm>
          <a:prstGeom prst="ellipse">
            <a:avLst/>
          </a:prstGeom>
          <a:solidFill>
            <a:srgbClr val="8B74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5289804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99032" y="4956048"/>
            <a:ext cx="437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Спрос есть, автоматизации нет.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SelSup советует «сравнивать три источника», GetMark продаёт ручную сверку как услугу.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87288" y="4846320"/>
            <a:ext cx="5455768" cy="1097280"/>
          </a:xfrm>
          <a:prstGeom prst="roundRect">
            <a:avLst>
              <a:gd name="adj" fmla="val 10000"/>
            </a:avLst>
          </a:prstGeom>
          <a:solidFill>
            <a:srgbClr val="34305C"/>
          </a:solidFill>
          <a:ln/>
        </p:spPr>
      </p:sp>
      <p:sp>
        <p:nvSpPr>
          <p:cNvPr id="10" name="Shape 6"/>
          <p:cNvSpPr/>
          <p:nvPr/>
        </p:nvSpPr>
        <p:spPr>
          <a:xfrm>
            <a:off x="6415888" y="5184648"/>
            <a:ext cx="420624" cy="420624"/>
          </a:xfrm>
          <a:prstGeom prst="ellipse">
            <a:avLst/>
          </a:prstGeom>
          <a:solidFill>
            <a:srgbClr val="8B74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044" y="528980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37680" y="4956048"/>
            <a:ext cx="437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 мешает МойСкладу или SelSup?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Приоритеты: у них сверка — одна из сотни задач, у нас — единственная. Наш ответ — скорость и глубина.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МОНЕТИЗАЦИЯ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Тарифы: платят за коды в обороте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6444" cy="3429000"/>
          </a:xfrm>
          <a:prstGeom prst="roundRect">
            <a:avLst>
              <a:gd name="adj" fmla="val 4162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8B7C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Старт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 ₽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62072"/>
            <a:ext cx="21792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юрлицо, 1 кабинет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сверка вручную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итоги по классам и сумма риска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10 самых дорогих расхождений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история 30 дней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7964" y="1600200"/>
            <a:ext cx="2636444" cy="3429000"/>
          </a:xfrm>
          <a:prstGeom prst="roundRect">
            <a:avLst>
              <a:gd name="adj" fmla="val 4162"/>
            </a:avLst>
          </a:prstGeom>
          <a:solidFill>
            <a:srgbClr val="3430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96564" y="1801368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2B6F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Базовый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96564" y="2167128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2B6F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1 990 ₽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/мес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96564" y="2862072"/>
            <a:ext cx="21792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2 кабинетов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20 000 кодов в обороте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сверка по расписанию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полный список и статусы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уведомления, Excel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история 90 дней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7288" y="1600200"/>
            <a:ext cx="2636444" cy="3429000"/>
          </a:xfrm>
          <a:prstGeom prst="roundRect">
            <a:avLst>
              <a:gd name="adj" fmla="val 4162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1801368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8B7C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Профи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167128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4 990 ₽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/мес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2862072"/>
            <a:ext cx="21792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3 юрлиц и 10 кабинетов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200 000 кодов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пользователи и роли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API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история 12 месяцев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приоритетная поддержка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611" y="1600200"/>
            <a:ext cx="2636444" cy="3429000"/>
          </a:xfrm>
          <a:prstGeom prst="roundRect">
            <a:avLst>
              <a:gd name="adj" fmla="val 4162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211" y="1801368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8B7C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Партнёрский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35211" y="2167128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от 9 990 ₽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235211" y="2862072"/>
            <a:ext cx="21792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фулфилменты и бухгалтерии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10 компаний в одном окне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агентский кабинет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условия обсуждаются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5455768" cy="850392"/>
          </a:xfrm>
          <a:prstGeom prst="roundRect">
            <a:avLst>
              <a:gd name="adj" fmla="val 12903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472684"/>
            <a:ext cx="420624" cy="420624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5577840"/>
            <a:ext cx="210312" cy="21031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99032" y="5367528"/>
            <a:ext cx="43767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Единица тарифа — коды в обороте и кабинеты.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Понятна продавцу, растёт вместе с его бизнесом и уже считается движком.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87288" y="5257800"/>
            <a:ext cx="5455768" cy="850392"/>
          </a:xfrm>
          <a:prstGeom prst="roundRect">
            <a:avLst>
              <a:gd name="adj" fmla="val 12903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15888" y="5472684"/>
            <a:ext cx="420624" cy="420624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044" y="5577840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037680" y="5367528"/>
            <a:ext cx="43767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млн ₽ в месяц ≈ 330 клиентов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 среднем чеке 3 000 ₽. Цель полугодия — доказать конверсию, а не окупить команду.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РОАДМАП РАЗВИТИЯ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Октябрь 2026 — март 2027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48095" y="950976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26262E"/>
          </a:solidFill>
          <a:ln w="9525">
            <a:solidFill>
              <a:srgbClr val="4C4C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22415" y="914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продукт и техника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51215" y="950976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305C"/>
          </a:solidFill>
          <a:ln w="9525">
            <a:solidFill>
              <a:srgbClr val="3430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25535" y="914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выход на рынок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280599" y="950976"/>
            <a:ext cx="164592" cy="164592"/>
          </a:xfrm>
          <a:prstGeom prst="diamond">
            <a:avLst/>
          </a:prstGeom>
          <a:solidFill>
            <a:srgbClr val="8B74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45775" y="914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веха месяца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" y="1691640"/>
            <a:ext cx="10948111" cy="0"/>
          </a:xfrm>
          <a:prstGeom prst="line">
            <a:avLst/>
          </a:prstGeom>
          <a:noFill/>
          <a:ln w="15875">
            <a:solidFill>
              <a:srgbClr val="8B7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618488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495245" y="1618488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68698" y="1618488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2152" y="1618488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15605" y="1618488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989058" y="1618488"/>
            <a:ext cx="146304" cy="146304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" y="1847088"/>
            <a:ext cx="1580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ОКТ 2026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" y="2084832"/>
            <a:ext cx="1580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Фундамент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568397" y="1847088"/>
            <a:ext cx="1580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НОЯ 2026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68397" y="2084832"/>
            <a:ext cx="1580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Данные ГИС МТ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41850" y="1847088"/>
            <a:ext cx="1580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ДЕК 2026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41850" y="2084832"/>
            <a:ext cx="1580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Пилоты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15304" y="1847088"/>
            <a:ext cx="1580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ЯНВ 2027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15304" y="2084832"/>
            <a:ext cx="1580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Первые деньги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188757" y="1847088"/>
            <a:ext cx="1580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ФЕВ 2027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188757" y="2084832"/>
            <a:ext cx="1580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Масштаб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62210" y="1847088"/>
            <a:ext cx="1580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МАР 2027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62210" y="2084832"/>
            <a:ext cx="1580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Рост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2587752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" y="2724912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Схема подписи, песочница ГИС МТ, тесты, миграции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422093" y="2587752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68397" y="2724912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Сборщик ГИС МТ, очередь запросов, планировщик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5546" y="2587752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41850" y="2724912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Сборщики WB и Ozon, подпись в продуктиве, прод-стенд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69000" y="2587752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15304" y="2724912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Регистрация и роли, тарифы и оплата, уведомления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42453" y="2587752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88757" y="2724912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Миллионы кодов, фоновые задачи, себестоимость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915906" y="2587752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62210" y="2724912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Мультиюрлицо, третья площадка, API партнёрам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3922776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34305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" y="4059936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15–20 интервью, лендинг, товарный знак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422093" y="3922776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34305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68397" y="4059936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5–8 пилотов бесплатно, гипотеза тарифов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295546" y="3922776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34305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41850" y="4059936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Пилоты на реальных кабинетах, волна 01.12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169000" y="3922776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34305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315304" y="4059936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Пилоты → оплата, оферта, кейс с цифрами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42453" y="3922776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34305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188757" y="4059936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Каналы, метрики конверсии и оттока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915906" y="3922776"/>
            <a:ext cx="1727149" cy="1188720"/>
          </a:xfrm>
          <a:prstGeom prst="roundRect">
            <a:avLst>
              <a:gd name="adj" fmla="val 9231"/>
            </a:avLst>
          </a:prstGeom>
          <a:solidFill>
            <a:srgbClr val="34305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062210" y="4059936"/>
            <a:ext cx="14711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Агентский тариф, пересмотр цен, план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4944" y="5385816"/>
            <a:ext cx="10948111" cy="0"/>
          </a:xfrm>
          <a:prstGeom prst="line">
            <a:avLst/>
          </a:prstGeom>
          <a:noFill/>
          <a:ln w="12700">
            <a:solidFill>
              <a:srgbClr val="8B74F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03504" y="5294376"/>
            <a:ext cx="182880" cy="182880"/>
          </a:xfrm>
          <a:prstGeom prst="diamond">
            <a:avLst/>
          </a:prstGeom>
          <a:solidFill>
            <a:srgbClr val="8B74F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94944" y="5568696"/>
            <a:ext cx="15625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Токен True API в песочнице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476957" y="5294376"/>
            <a:ext cx="182880" cy="182880"/>
          </a:xfrm>
          <a:prstGeom prst="diamond">
            <a:avLst/>
          </a:prstGeom>
          <a:solidFill>
            <a:srgbClr val="8B74F0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568397" y="5568696"/>
            <a:ext cx="15625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Сверка по расписанию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350410" y="5294376"/>
            <a:ext cx="182880" cy="182880"/>
          </a:xfrm>
          <a:prstGeom prst="diamond">
            <a:avLst/>
          </a:prstGeom>
          <a:solidFill>
            <a:srgbClr val="8B74F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441850" y="5568696"/>
            <a:ext cx="15625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Первая сверка у клиента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223864" y="5294376"/>
            <a:ext cx="182880" cy="182880"/>
          </a:xfrm>
          <a:prstGeom prst="diamond">
            <a:avLst/>
          </a:prstGeom>
          <a:solidFill>
            <a:srgbClr val="8B74F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315304" y="5568696"/>
            <a:ext cx="15625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Первая оплата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097317" y="5294376"/>
            <a:ext cx="182880" cy="182880"/>
          </a:xfrm>
          <a:prstGeom prst="diamond">
            <a:avLst/>
          </a:prstGeom>
          <a:solidFill>
            <a:srgbClr val="8B74F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188757" y="5568696"/>
            <a:ext cx="15625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10 платящих компаний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970770" y="5294376"/>
            <a:ext cx="182880" cy="182880"/>
          </a:xfrm>
          <a:prstGeom prst="diamond">
            <a:avLst/>
          </a:prstGeom>
          <a:solidFill>
            <a:srgbClr val="8B74F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0062210" y="5568696"/>
            <a:ext cx="15625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20–30 платящих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РИСКИ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Главный вопрос — чья подпись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507992"/>
          </a:xfrm>
          <a:prstGeom prst="roundRect">
            <a:avLst>
              <a:gd name="adj" fmla="val 2434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3430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26464" y="1874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Криптография и подпись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96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C56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Самый рискованный узел — поэтому идёт первым в роадмапе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6207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Данные ГИС МТ отдаются только по электронной подписи. МЧД выдаётся сотруднику-физлицу с его собственной УКЭП — уполномочить сторонний сервис как юрлицо нельзя.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30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ВАРИАНТА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069080"/>
            <a:ext cx="274320" cy="274320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4050792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Локальный агент на компьютере клиента, токен в USB — надёжно, но нужен включённый компьютер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" y="4581144"/>
            <a:ext cx="274320" cy="274320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581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261872" y="4562856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Облачная подпись (КриптоПро DSS и аналоги) — подпись в защищённом хранилище, сервис вызывает подписание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60" y="5093208"/>
            <a:ext cx="274320" cy="274320"/>
          </a:xfrm>
          <a:prstGeom prst="ellipse">
            <a:avLst/>
          </a:prstGeom>
          <a:solidFill>
            <a:srgbClr val="8B74F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15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61872" y="5074920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Оператор ЭДО как посредник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486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Решение — октябрь 2026, до сборщика ГИС МТ. Для прототипа вопрос снят: песочница допускает бесплатный тестовый сертификат.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23760" y="1600200"/>
            <a:ext cx="4419295" cy="1380744"/>
          </a:xfrm>
          <a:prstGeom prst="roundRect">
            <a:avLst>
              <a:gd name="adj" fmla="val 7947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24928" y="1801368"/>
            <a:ext cx="384048" cy="384048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40" y="1897380"/>
            <a:ext cx="192024" cy="19202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55280" y="1719072"/>
            <a:ext cx="3486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Изменения API площадок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7424928" y="2331720"/>
            <a:ext cx="401695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 Ozon за 2026 год минимум три волны отключения методов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223760" y="3163824"/>
            <a:ext cx="4419295" cy="1380744"/>
          </a:xfrm>
          <a:prstGeom prst="roundRect">
            <a:avLst>
              <a:gd name="adj" fmla="val 7947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424928" y="3364992"/>
            <a:ext cx="384048" cy="384048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40" y="3461004"/>
            <a:ext cx="192024" cy="19202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955280" y="3282696"/>
            <a:ext cx="3486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Рынок не растёт сам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7424928" y="3895344"/>
            <a:ext cx="401695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Число селлеров −2 % год к году, приток новичков за лето 2026 упал на 24–27 %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7223760" y="4727448"/>
            <a:ext cx="4419295" cy="1380744"/>
          </a:xfrm>
          <a:prstGeom prst="roundRect">
            <a:avLst>
              <a:gd name="adj" fmla="val 7947"/>
            </a:avLst>
          </a:prstGeom>
          <a:solidFill>
            <a:srgbClr val="26262E"/>
          </a:solidFill>
          <a:ln w="9525">
            <a:solidFill>
              <a:srgbClr val="3A3A4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424928" y="4928616"/>
            <a:ext cx="384048" cy="384048"/>
          </a:xfrm>
          <a:prstGeom prst="ellipse">
            <a:avLst/>
          </a:prstGeom>
          <a:solidFill>
            <a:srgbClr val="1D1D23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5024628"/>
            <a:ext cx="192024" cy="19202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955280" y="4846320"/>
            <a:ext cx="3486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152‑ФЗ и ключи клиентов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7424928" y="5458968"/>
            <a:ext cx="401695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Ключи только шифртекстом, ключ шифрования вне базы; ошибка стоит доверия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382512"/>
            <a:ext cx="10180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594A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· презентация продукта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594A1"/>
                </a:solidFill>
                <a:latin typeface="Golos Text"/>
                <a:ea typeface="Golos Text"/>
                <a:cs typeface="Golos Tex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tek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"/>
            <a:ext cx="1750765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160" kern="0" dirty="0">
                <a:solidFill>
                  <a:srgbClr val="C2B6F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ПРОДАВЦОВ МАРКИРОВАННЫХ ТОВАРОВ НА МАРКЕТПЛЕЙСАХ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Коды считаны,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2F1E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деньги посчитаны.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690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8B7C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litekiz — единая панель контроля маркированного товара: коды «Честного ЗНАКа», остатки и движение товара по всем площадкам.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49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C2B6F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Спасибо. Вопросы?</a:t>
            </a:r>
            <a:endParaRPr lang="en-US" sz="2600" dirty="0"/>
          </a:p>
        </p:txBody>
      </p:sp>
      <p:pic>
        <p:nvPicPr>
          <p:cNvPr id="7" name="Image 1" descr="Знак liteki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497" y="1783080"/>
            <a:ext cx="2546518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tekiz Графит">
  <a:themeElements>
    <a:clrScheme name="litekiz Графит">
      <a:dk1>
        <a:srgbClr val="F2F1EC"/>
      </a:dk1>
      <a:lt1>
        <a:srgbClr val="1D1D23"/>
      </a:lt1>
      <a:dk2>
        <a:srgbClr val="B8B7C2"/>
      </a:dk2>
      <a:lt2>
        <a:srgbClr val="26262E"/>
      </a:lt2>
      <a:accent1>
        <a:srgbClr val="8B74F0"/>
      </a:accent1>
      <a:accent2>
        <a:srgbClr val="F39AAC"/>
      </a:accent2>
      <a:accent3>
        <a:srgbClr val="E8C56C"/>
      </a:accent3>
      <a:accent4>
        <a:srgbClr val="7FD3CC"/>
      </a:accent4>
      <a:accent5>
        <a:srgbClr val="BCC2D6"/>
      </a:accent5>
      <a:accent6>
        <a:srgbClr val="34305C"/>
      </a:accent6>
      <a:hlink>
        <a:srgbClr val="C2B6F8"/>
      </a:hlink>
      <a:folHlink>
        <a:srgbClr val="9594A1"/>
      </a:folHlink>
    </a:clrScheme>
    <a:fontScheme name="litekiz Графит">
      <a:majorFont>
        <a:latin typeface="Mulish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olos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litekiz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litekiz — презентация продукта</dc:title>
  <dc:subject>PptxGenJS Presentation</dc:subject>
  <dc:creator>litekiz</dc:creator>
  <cp:lastModifiedBy>litekiz</cp:lastModifiedBy>
  <cp:revision>1</cp:revision>
  <dcterms:created xsi:type="dcterms:W3CDTF">2026-10-06T19:46:47Z</dcterms:created>
  <dcterms:modified xsi:type="dcterms:W3CDTF">2026-10-06T19:46:47Z</dcterms:modified>
</cp:coreProperties>
</file>