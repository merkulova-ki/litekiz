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12192000"/>
  <p:embeddedFontLst>
    <p:embeddedFont>
      <p:font typeface="Golos Text"/>
      <p:regular r:id="rId13"/>
      <p:bold r:id="rId14"/>
    </p:embeddedFont>
    <p:embeddedFont>
      <p:font typeface="Mulish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82E1B6-488D-4547-9070-F59CE908729B}">
  <a:tblStyle styleId="{0082E1B6-488D-4547-9070-F59CE908729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olosText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ulish-regular.fntdata"/><Relationship Id="rId14" Type="http://schemas.openxmlformats.org/officeDocument/2006/relationships/font" Target="fonts/GolosText-bold.fntdata"/><Relationship Id="rId17" Type="http://schemas.openxmlformats.org/officeDocument/2006/relationships/font" Target="fonts/Mulish-italic.fntdata"/><Relationship Id="rId16" Type="http://schemas.openxmlformats.org/officeDocument/2006/relationships/font" Target="fonts/Mulish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Mulish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Здравствуйте, мы — litekiz. Коды считаны, деньги посчитаны: мы помогаем продавцам маркетплейсов увидеть, сколько денег они теряют на расхождениях в маркировке. (≈10 сек.)</a:t>
            </a:r>
            <a:endParaRPr/>
          </a:p>
        </p:txBody>
      </p:sp>
      <p:sp>
        <p:nvSpPr>
          <p:cNvPr id="23" name="Google Shape;2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Продавец живёт в двух системах: «Честный ЗНАК» знает его коды, маркетплейс — остатки. Друг друга они не видят. Сверяют руками, в Excel, а ошибка стоит до 300 тысяч рублей штрафа. (≈15 сек.)</a:t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Мы сводим обе стороны в одном окне. На выходе не статусы кодов, а список проблем четырёх типов — у каждой цена в рублях и статус работы. Продавец сразу видит, с чего начать. (≈15 сек.)</a:t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Сервисы маркировки видят коды, сервисы аналитики — остатки. Сверку двух систем не делает никто, даже сам «Честный ЗНАК». Мы не заменяем сервис маркировки, а дополняем его. (≈15 сек.)</a:t>
            </a:r>
            <a:endParaRPr/>
          </a:p>
        </p:txBody>
      </p:sp>
      <p:sp>
        <p:nvSpPr>
          <p:cNvPr id="88" name="Google Shape;8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Зарабатываем на подписке от 1 990 рублей в месяц. Бесплатный тариф показывает проблему, платный помогает её закрыть. 330 клиентов — миллион рублей в месяц. (≈15 сек.)</a:t>
            </a:r>
            <a:endParaRPr/>
          </a:p>
        </p:txBody>
      </p:sp>
      <p:sp>
        <p:nvSpPr>
          <p:cNvPr id="101" name="Google Shape;10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Нас двое, оба разработчики: [имя] отвечает за [зону], [имя] — за [зону]. Прототип, бренд, лендинг и демо-версию мы сделали своими силами. (≈10 сек.)</a:t>
            </a:r>
            <a:endParaRPr/>
          </a:p>
        </p:txBody>
      </p:sp>
      <p:sp>
        <p:nvSpPr>
          <p:cNvPr id="135" name="Google Shape;13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Просим грант «Студенческий стартап» — миллион рублей на год. 70 % — работа команды, остальное — серверы, подпись, юрист и товарный знак. Через год — реальные данные и 20–30 платящих компаний. Спасибо, готовы ответить на вопросы. (≈20 сек.)</a:t>
            </a:r>
            <a:endParaRPr/>
          </a:p>
        </p:txBody>
      </p:sp>
      <p:sp>
        <p:nvSpPr>
          <p:cNvPr id="169" name="Google Shape;16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K_TITLE">
  <p:cSld name="LK_TITLE">
    <p:bg>
      <p:bgPr>
        <a:solidFill>
          <a:srgbClr val="1D1D23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K_CONTENT">
  <p:cSld name="LK_CONTENT">
    <p:bg>
      <p:bgPr>
        <a:solidFill>
          <a:srgbClr val="1D1D23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3200"/>
              <a:buFont typeface="Mulish"/>
              <a:buNone/>
              <a:defRPr b="1" i="0" sz="3200" u="none" cap="none" strike="noStrike">
                <a:solidFill>
                  <a:srgbClr val="F2F1EC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594A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594A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594A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594A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594A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594A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594A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594A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594A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K_ACCENT">
  <p:cSld name="LK_ACCENT">
    <p:bg>
      <p:bgPr>
        <a:solidFill>
          <a:srgbClr val="3430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3200"/>
              <a:buFont typeface="Mulish"/>
              <a:buNone/>
              <a:defRPr b="1" i="0" sz="3200" u="none" cap="none" strike="noStrike">
                <a:solidFill>
                  <a:srgbClr val="F2F1EC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K_CLOSING">
  <p:cSld name="LK_CLOSING">
    <p:bg>
      <p:bgPr>
        <a:solidFill>
          <a:srgbClr val="34305C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594A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594A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594A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594A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594A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594A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594A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594A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594A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Relationship Id="rId4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/>
        </p:nvSpPr>
        <p:spPr>
          <a:xfrm>
            <a:off x="548640" y="2011680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B6F8"/>
              </a:buClr>
              <a:buSzPts val="1100"/>
              <a:buFont typeface="Golos Text"/>
              <a:buNone/>
            </a:pPr>
            <a:r>
              <a:rPr b="1" i="0" lang="en-US" spc="160" sz="1100" u="none" cap="none" strike="noStrike">
                <a:solidFill>
                  <a:srgbClr val="C2B6F8"/>
                </a:solidFill>
                <a:latin typeface="Golos Text"/>
                <a:ea typeface="Golos Text"/>
                <a:cs typeface="Golos Text"/>
                <a:sym typeface="Golos Text"/>
              </a:rPr>
              <a:t>ДЛЯ ПРОДАВЦОВ МАРКИРОВАННЫХ ТОВАРОВ НА МАРКЕТПЛЕЙСАХ</a:t>
            </a:r>
            <a:endParaRPr b="0" i="0" sz="11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6" name="Google Shape;26;p7"/>
          <p:cNvSpPr txBox="1"/>
          <p:nvPr/>
        </p:nvSpPr>
        <p:spPr>
          <a:xfrm>
            <a:off x="548640" y="2331720"/>
            <a:ext cx="74980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5400"/>
              <a:buFont typeface="Mulish"/>
              <a:buNone/>
            </a:pPr>
            <a:r>
              <a:rPr b="1" i="0" lang="en-US" sz="5400" u="none" cap="none" strike="noStrike">
                <a:solidFill>
                  <a:srgbClr val="F2F1EC"/>
                </a:solidFill>
                <a:latin typeface="Mulish"/>
                <a:ea typeface="Mulish"/>
                <a:cs typeface="Mulish"/>
                <a:sym typeface="Mulish"/>
              </a:rPr>
              <a:t>Коды считаны,</a:t>
            </a:r>
            <a:endParaRPr b="0" i="0" sz="5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5400"/>
              <a:buFont typeface="Mulish"/>
              <a:buNone/>
            </a:pPr>
            <a:r>
              <a:rPr b="1" i="0" lang="en-US" sz="5400" u="none" cap="none" strike="noStrike">
                <a:solidFill>
                  <a:srgbClr val="F2F1EC"/>
                </a:solidFill>
                <a:latin typeface="Mulish"/>
                <a:ea typeface="Mulish"/>
                <a:cs typeface="Mulish"/>
                <a:sym typeface="Mulish"/>
              </a:rPr>
              <a:t>деньги посчитаны.</a:t>
            </a:r>
            <a:endParaRPr b="0" i="0" sz="5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7" name="Google Shape;27;p7"/>
          <p:cNvSpPr txBox="1"/>
          <p:nvPr/>
        </p:nvSpPr>
        <p:spPr>
          <a:xfrm>
            <a:off x="548640" y="4069080"/>
            <a:ext cx="6766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8B7C2"/>
              </a:buClr>
              <a:buSzPts val="1800"/>
              <a:buFont typeface="Golos Text"/>
              <a:buNone/>
            </a:pPr>
            <a:r>
              <a:rPr b="0" i="0" lang="en-US" sz="18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litekiz — единая панель контроля маркированного товара: коды «Честного ЗНАКа», остатки и движение товара по всем площадкам.</a:t>
            </a:r>
            <a:endParaRPr b="0" i="0" sz="18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descr="Знак litekiz" id="28" name="Google Shape;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6497" y="1783080"/>
            <a:ext cx="2546518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tekiz" id="29" name="Google Shape;29;p7"/>
          <p:cNvPicPr preferRelativeResize="0"/>
          <p:nvPr/>
        </p:nvPicPr>
        <p:blipFill rotWithShape="1">
          <a:blip r:embed="rId4">
            <a:alphaModFix/>
          </a:blip>
          <a:srcRect b="0" l="0" r="20255" t="0"/>
          <a:stretch/>
        </p:blipFill>
        <p:spPr>
          <a:xfrm>
            <a:off x="548648" y="566925"/>
            <a:ext cx="1396151" cy="42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/>
        </p:nvSpPr>
        <p:spPr>
          <a:xfrm>
            <a:off x="548640" y="457200"/>
            <a:ext cx="1109441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B6F8"/>
              </a:buClr>
              <a:buSzPts val="1100"/>
              <a:buFont typeface="Golos Text"/>
              <a:buNone/>
            </a:pPr>
            <a:r>
              <a:rPr b="1" i="0" lang="en-US" spc="160" sz="1100" u="none" cap="none" strike="noStrike">
                <a:solidFill>
                  <a:srgbClr val="C2B6F8"/>
                </a:solidFill>
                <a:latin typeface="Golos Text"/>
                <a:ea typeface="Golos Text"/>
                <a:cs typeface="Golos Text"/>
                <a:sym typeface="Golos Text"/>
              </a:rPr>
              <a:t>ПРОБЛЕМА</a:t>
            </a:r>
            <a:endParaRPr b="0" i="0" sz="11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3200"/>
              <a:buFont typeface="Mulish"/>
              <a:buNone/>
            </a:pPr>
            <a:r>
              <a:rPr b="1" lang="en-US" sz="3200">
                <a:solidFill>
                  <a:srgbClr val="F2F1EC"/>
                </a:solidFill>
                <a:latin typeface="Mulish"/>
                <a:ea typeface="Mulish"/>
                <a:cs typeface="Mulish"/>
                <a:sym typeface="Mulish"/>
              </a:rPr>
              <a:t>Две системы, которые не видят друг друга</a:t>
            </a:r>
            <a:endParaRPr sz="3200"/>
          </a:p>
        </p:txBody>
      </p:sp>
      <p:sp>
        <p:nvSpPr>
          <p:cNvPr id="37" name="Google Shape;37;p8"/>
          <p:cNvSpPr/>
          <p:nvPr/>
        </p:nvSpPr>
        <p:spPr>
          <a:xfrm>
            <a:off x="548640" y="1600200"/>
            <a:ext cx="3576218" cy="2468880"/>
          </a:xfrm>
          <a:prstGeom prst="roundRect">
            <a:avLst>
              <a:gd fmla="val 4444" name="adj"/>
            </a:avLst>
          </a:prstGeom>
          <a:solidFill>
            <a:srgbClr val="26262E"/>
          </a:solidFill>
          <a:ln cap="flat" cmpd="sng" w="9525">
            <a:solidFill>
              <a:srgbClr val="3A3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8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1D1D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" y="19431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8"/>
          <p:cNvSpPr txBox="1"/>
          <p:nvPr/>
        </p:nvSpPr>
        <p:spPr>
          <a:xfrm>
            <a:off x="1380744" y="1783080"/>
            <a:ext cx="251551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800"/>
              <a:buFont typeface="Mulish"/>
              <a:buNone/>
            </a:pPr>
            <a:r>
              <a:rPr b="1" i="0" lang="en-US" sz="1800" u="none" cap="none" strike="noStrike">
                <a:solidFill>
                  <a:srgbClr val="F2F1EC"/>
                </a:solidFill>
                <a:latin typeface="Mulish"/>
                <a:ea typeface="Mulish"/>
                <a:cs typeface="Mulish"/>
                <a:sym typeface="Mulish"/>
              </a:rPr>
              <a:t>ГИС МТ знает коды</a:t>
            </a:r>
            <a:endParaRPr b="0" i="0" sz="18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1" name="Google Shape;41;p8"/>
          <p:cNvSpPr txBox="1"/>
          <p:nvPr/>
        </p:nvSpPr>
        <p:spPr>
          <a:xfrm>
            <a:off x="777240" y="2542032"/>
            <a:ext cx="3119018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B7C2"/>
              </a:buClr>
              <a:buSzPts val="1400"/>
              <a:buFont typeface="Golos Text"/>
              <a:buNone/>
            </a:pPr>
            <a:r>
              <a:rPr b="0" i="0" lang="en-US" sz="14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Какие коды заказаны, нанесены, введены и выведены из оборота. Но не знает, лежит ли за кодом товар.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2" name="Google Shape;42;p8"/>
          <p:cNvSpPr/>
          <p:nvPr/>
        </p:nvSpPr>
        <p:spPr>
          <a:xfrm>
            <a:off x="4307738" y="1600200"/>
            <a:ext cx="3576218" cy="2468880"/>
          </a:xfrm>
          <a:prstGeom prst="roundRect">
            <a:avLst>
              <a:gd fmla="val 4444" name="adj"/>
            </a:avLst>
          </a:prstGeom>
          <a:solidFill>
            <a:srgbClr val="26262E"/>
          </a:solidFill>
          <a:ln cap="flat" cmpd="sng" w="9525">
            <a:solidFill>
              <a:srgbClr val="3A3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8"/>
          <p:cNvSpPr/>
          <p:nvPr/>
        </p:nvSpPr>
        <p:spPr>
          <a:xfrm>
            <a:off x="4536338" y="1828800"/>
            <a:ext cx="457200" cy="457200"/>
          </a:xfrm>
          <a:prstGeom prst="ellipse">
            <a:avLst/>
          </a:prstGeom>
          <a:solidFill>
            <a:srgbClr val="1D1D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0638" y="19431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8"/>
          <p:cNvSpPr txBox="1"/>
          <p:nvPr/>
        </p:nvSpPr>
        <p:spPr>
          <a:xfrm>
            <a:off x="5139842" y="1783080"/>
            <a:ext cx="251551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800"/>
              <a:buFont typeface="Mulish"/>
              <a:buNone/>
            </a:pPr>
            <a:r>
              <a:rPr b="1" i="0" lang="en-US" sz="1800" u="none" cap="none" strike="noStrike">
                <a:solidFill>
                  <a:srgbClr val="F2F1EC"/>
                </a:solidFill>
                <a:latin typeface="Mulish"/>
                <a:ea typeface="Mulish"/>
                <a:cs typeface="Mulish"/>
                <a:sym typeface="Mulish"/>
              </a:rPr>
              <a:t>Площадка знает остатки</a:t>
            </a:r>
            <a:endParaRPr b="0" i="0" sz="18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6" name="Google Shape;46;p8"/>
          <p:cNvSpPr txBox="1"/>
          <p:nvPr/>
        </p:nvSpPr>
        <p:spPr>
          <a:xfrm>
            <a:off x="4536338" y="2542032"/>
            <a:ext cx="3119018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B7C2"/>
              </a:buClr>
              <a:buSzPts val="1400"/>
              <a:buFont typeface="Golos Text"/>
              <a:buNone/>
            </a:pPr>
            <a:r>
              <a:rPr b="0" i="0" lang="en-US" sz="14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Сколько товара на складах, что продано и что вернулось. Но не знает, какие коды за этим стоят.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8066837" y="1600200"/>
            <a:ext cx="3576218" cy="2468880"/>
          </a:xfrm>
          <a:prstGeom prst="roundRect">
            <a:avLst>
              <a:gd fmla="val 4444" name="adj"/>
            </a:avLst>
          </a:prstGeom>
          <a:solidFill>
            <a:srgbClr val="343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/>
          <p:nvPr/>
        </p:nvSpPr>
        <p:spPr>
          <a:xfrm>
            <a:off x="8295437" y="1828800"/>
            <a:ext cx="457200" cy="457200"/>
          </a:xfrm>
          <a:prstGeom prst="ellipse">
            <a:avLst/>
          </a:prstGeom>
          <a:solidFill>
            <a:srgbClr val="8B74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09737" y="19431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8"/>
          <p:cNvSpPr txBox="1"/>
          <p:nvPr/>
        </p:nvSpPr>
        <p:spPr>
          <a:xfrm>
            <a:off x="8898941" y="1783080"/>
            <a:ext cx="251551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800"/>
              <a:buFont typeface="Mulish"/>
              <a:buNone/>
            </a:pPr>
            <a:r>
              <a:rPr b="1" i="0" lang="en-US" sz="1800" u="none" cap="none" strike="noStrike">
                <a:solidFill>
                  <a:srgbClr val="F2F1EC"/>
                </a:solidFill>
                <a:latin typeface="Mulish"/>
                <a:ea typeface="Mulish"/>
                <a:cs typeface="Mulish"/>
                <a:sym typeface="Mulish"/>
              </a:rPr>
              <a:t>Сверяет продавец руками</a:t>
            </a:r>
            <a:endParaRPr b="0" i="0" sz="18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1" name="Google Shape;51;p8"/>
          <p:cNvSpPr txBox="1"/>
          <p:nvPr/>
        </p:nvSpPr>
        <p:spPr>
          <a:xfrm>
            <a:off x="8295437" y="2542032"/>
            <a:ext cx="3119018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400"/>
              <a:buFont typeface="Golos Text"/>
              <a:buNone/>
            </a:pPr>
            <a:r>
              <a:rPr b="0" i="0" lang="en-US" sz="14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Выгрузки, Excel, раз в неделю. Отчёта, который сводит обе стороны, нет ни в одной из систем.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548640" y="4343400"/>
            <a:ext cx="11094415" cy="914400"/>
          </a:xfrm>
          <a:prstGeom prst="roundRect">
            <a:avLst>
              <a:gd fmla="val 12000" name="adj"/>
            </a:avLst>
          </a:prstGeom>
          <a:solidFill>
            <a:srgbClr val="452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1248" y="46542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8"/>
          <p:cNvSpPr txBox="1"/>
          <p:nvPr/>
        </p:nvSpPr>
        <p:spPr>
          <a:xfrm>
            <a:off x="1399032" y="4453128"/>
            <a:ext cx="10015423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400"/>
              <a:buFont typeface="Golos Text"/>
              <a:buNone/>
            </a:pPr>
            <a:r>
              <a:rPr b="1" i="0" lang="en-US" sz="14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Цена расхождений: </a:t>
            </a:r>
            <a:r>
              <a:rPr b="0" i="0" lang="en-US" sz="14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штраф 50–300 тыс. ₽ на юрлицо за продажу немаркированного товара, товар без кода нельзя продать, зависшие коды — замороженные деньги.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5" name="Google Shape;55;p8"/>
          <p:cNvSpPr txBox="1"/>
          <p:nvPr>
            <p:ph idx="4294967295" type="sldNum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594A1"/>
                </a:solidFill>
                <a:latin typeface="Golos Text"/>
                <a:ea typeface="Golos Text"/>
                <a:cs typeface="Golos Text"/>
                <a:sym typeface="Golos Text"/>
              </a:rPr>
              <a:t>‹#›</a:t>
            </a:fld>
            <a:endParaRPr b="0" i="0" sz="1000" u="none" cap="none" strike="noStrike">
              <a:solidFill>
                <a:srgbClr val="9594A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/>
        </p:nvSpPr>
        <p:spPr>
          <a:xfrm>
            <a:off x="548640" y="457200"/>
            <a:ext cx="1109441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B6F8"/>
              </a:buClr>
              <a:buSzPts val="1100"/>
              <a:buFont typeface="Golos Text"/>
              <a:buNone/>
            </a:pPr>
            <a:r>
              <a:rPr b="1" i="0" lang="en-US" spc="160" sz="1100" u="none" cap="none" strike="noStrike">
                <a:solidFill>
                  <a:srgbClr val="C2B6F8"/>
                </a:solidFill>
                <a:latin typeface="Golos Text"/>
                <a:ea typeface="Golos Text"/>
                <a:cs typeface="Golos Text"/>
                <a:sym typeface="Golos Text"/>
              </a:rPr>
              <a:t>РЕШЕНИЕ</a:t>
            </a:r>
            <a:endParaRPr b="0" i="0" sz="11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2" name="Google Shape;62;p9"/>
          <p:cNvSpPr txBox="1"/>
          <p:nvPr>
            <p:ph type="title"/>
          </p:nvPr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3200"/>
              <a:buFont typeface="Mulish"/>
              <a:buNone/>
            </a:pPr>
            <a:r>
              <a:rPr b="1" lang="en-US" sz="3200">
                <a:solidFill>
                  <a:srgbClr val="F2F1EC"/>
                </a:solidFill>
                <a:latin typeface="Mulish"/>
                <a:ea typeface="Mulish"/>
                <a:cs typeface="Mulish"/>
                <a:sym typeface="Mulish"/>
              </a:rPr>
              <a:t>litekiz сводит обе стороны в одном окне</a:t>
            </a:r>
            <a:endParaRPr sz="3200"/>
          </a:p>
        </p:txBody>
      </p:sp>
      <p:sp>
        <p:nvSpPr>
          <p:cNvPr id="63" name="Google Shape;63;p9"/>
          <p:cNvSpPr txBox="1"/>
          <p:nvPr/>
        </p:nvSpPr>
        <p:spPr>
          <a:xfrm>
            <a:off x="548640" y="1600200"/>
            <a:ext cx="11094415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900"/>
              <a:buFont typeface="Golos Text"/>
              <a:buNone/>
            </a:pPr>
            <a:r>
              <a:rPr b="0" i="0" lang="en-US" sz="19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Для продавцов маркированных товаров на маркетплейсах мы создаём litekiz — единую панель контроля кодов «Честного ЗНАКа», остатков и движения товара по всем площадкам, которая </a:t>
            </a:r>
            <a:r>
              <a:rPr b="1" i="0" lang="en-US" sz="19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находит расхождения между ГИС МТ и площадками и считает, сколько они стоят</a:t>
            </a:r>
            <a:r>
              <a:rPr b="0" i="0" lang="en-US" sz="19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, в отличие от сервисов аналитики и сервисов маркировки, которые видят только одну сторону данных, потому что </a:t>
            </a:r>
            <a:r>
              <a:rPr b="1" i="0" lang="en-US" sz="19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только litekiz сводит обе стороны в одном окне</a:t>
            </a:r>
            <a:r>
              <a:rPr b="0" i="0" lang="en-US" sz="19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 и превращает их в список проблем с ценой и статусом.</a:t>
            </a:r>
            <a:endParaRPr b="0" i="0" sz="19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4" name="Google Shape;64;p9"/>
          <p:cNvSpPr/>
          <p:nvPr/>
        </p:nvSpPr>
        <p:spPr>
          <a:xfrm>
            <a:off x="548640" y="4069080"/>
            <a:ext cx="2636444" cy="2011680"/>
          </a:xfrm>
          <a:prstGeom prst="roundRect">
            <a:avLst>
              <a:gd fmla="val 5455" name="adj"/>
            </a:avLst>
          </a:prstGeom>
          <a:solidFill>
            <a:srgbClr val="1D1D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9"/>
          <p:cNvSpPr/>
          <p:nvPr/>
        </p:nvSpPr>
        <p:spPr>
          <a:xfrm>
            <a:off x="777240" y="4297680"/>
            <a:ext cx="457200" cy="457200"/>
          </a:xfrm>
          <a:prstGeom prst="ellipse">
            <a:avLst/>
          </a:prstGeom>
          <a:solidFill>
            <a:srgbClr val="452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" y="44119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9"/>
          <p:cNvSpPr txBox="1"/>
          <p:nvPr/>
        </p:nvSpPr>
        <p:spPr>
          <a:xfrm>
            <a:off x="777240" y="4864608"/>
            <a:ext cx="2179244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AAC"/>
              </a:buClr>
              <a:buSzPts val="1600"/>
              <a:buFont typeface="Mulish"/>
              <a:buNone/>
            </a:pPr>
            <a:r>
              <a:rPr b="1" i="0" lang="en-US" sz="1600" u="none" cap="none" strike="noStrike">
                <a:solidFill>
                  <a:srgbClr val="F39AAC"/>
                </a:solidFill>
                <a:latin typeface="Mulish"/>
                <a:ea typeface="Mulish"/>
                <a:cs typeface="Mulish"/>
                <a:sym typeface="Mulish"/>
              </a:rPr>
              <a:t>Коды без товара</a:t>
            </a:r>
            <a:endParaRPr b="0" i="0" sz="16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8" name="Google Shape;68;p9"/>
          <p:cNvSpPr txBox="1"/>
          <p:nvPr/>
        </p:nvSpPr>
        <p:spPr>
          <a:xfrm>
            <a:off x="777240" y="5431536"/>
            <a:ext cx="21792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400"/>
              <a:buFont typeface="Golos Text"/>
              <a:buNone/>
            </a:pPr>
            <a:r>
              <a:rPr b="0" i="0" lang="en-US" sz="14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вероятна продажа без вывода из оборота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9" name="Google Shape;69;p9"/>
          <p:cNvSpPr/>
          <p:nvPr/>
        </p:nvSpPr>
        <p:spPr>
          <a:xfrm>
            <a:off x="3367964" y="4069080"/>
            <a:ext cx="2636444" cy="2011680"/>
          </a:xfrm>
          <a:prstGeom prst="roundRect">
            <a:avLst>
              <a:gd fmla="val 5455" name="adj"/>
            </a:avLst>
          </a:prstGeom>
          <a:solidFill>
            <a:srgbClr val="1D1D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3596564" y="4297680"/>
            <a:ext cx="457200" cy="457200"/>
          </a:xfrm>
          <a:prstGeom prst="ellipse">
            <a:avLst/>
          </a:prstGeom>
          <a:solidFill>
            <a:srgbClr val="3E3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0864" y="44119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 txBox="1"/>
          <p:nvPr/>
        </p:nvSpPr>
        <p:spPr>
          <a:xfrm>
            <a:off x="3596564" y="4864608"/>
            <a:ext cx="2179244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56C"/>
              </a:buClr>
              <a:buSzPts val="1600"/>
              <a:buFont typeface="Mulish"/>
              <a:buNone/>
            </a:pPr>
            <a:r>
              <a:rPr b="1" i="0" lang="en-US" sz="1600" u="none" cap="none" strike="noStrike">
                <a:solidFill>
                  <a:srgbClr val="E8C56C"/>
                </a:solidFill>
                <a:latin typeface="Mulish"/>
                <a:ea typeface="Mulish"/>
                <a:cs typeface="Mulish"/>
                <a:sym typeface="Mulish"/>
              </a:rPr>
              <a:t>Товар без кодов</a:t>
            </a:r>
            <a:endParaRPr b="0" i="0" sz="16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3" name="Google Shape;73;p9"/>
          <p:cNvSpPr txBox="1"/>
          <p:nvPr/>
        </p:nvSpPr>
        <p:spPr>
          <a:xfrm>
            <a:off x="3596564" y="5431536"/>
            <a:ext cx="21792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400"/>
              <a:buFont typeface="Golos Text"/>
              <a:buNone/>
            </a:pPr>
            <a:r>
              <a:rPr b="0" i="0" lang="en-US" sz="14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продавать нельзя, пока нет кода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6187288" y="4069080"/>
            <a:ext cx="2636444" cy="2011680"/>
          </a:xfrm>
          <a:prstGeom prst="roundRect">
            <a:avLst>
              <a:gd fmla="val 5455" name="adj"/>
            </a:avLst>
          </a:prstGeom>
          <a:solidFill>
            <a:srgbClr val="1D1D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6415888" y="4297680"/>
            <a:ext cx="457200" cy="457200"/>
          </a:xfrm>
          <a:prstGeom prst="ellipse">
            <a:avLst/>
          </a:prstGeom>
          <a:solidFill>
            <a:srgbClr val="1F3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0188" y="44119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6415888" y="4864608"/>
            <a:ext cx="2179244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D3CC"/>
              </a:buClr>
              <a:buSzPts val="1600"/>
              <a:buFont typeface="Mulish"/>
              <a:buNone/>
            </a:pPr>
            <a:r>
              <a:rPr b="1" i="0" lang="en-US" sz="1600" u="none" cap="none" strike="noStrike">
                <a:solidFill>
                  <a:srgbClr val="7FD3CC"/>
                </a:solidFill>
                <a:latin typeface="Mulish"/>
                <a:ea typeface="Mulish"/>
                <a:cs typeface="Mulish"/>
                <a:sym typeface="Mulish"/>
              </a:rPr>
              <a:t>Зависшие коды</a:t>
            </a:r>
            <a:endParaRPr b="0" i="0" sz="16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8" name="Google Shape;78;p9"/>
          <p:cNvSpPr txBox="1"/>
          <p:nvPr/>
        </p:nvSpPr>
        <p:spPr>
          <a:xfrm>
            <a:off x="6415888" y="5431536"/>
            <a:ext cx="21792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400"/>
              <a:buFont typeface="Golos Text"/>
              <a:buNone/>
            </a:pPr>
            <a:r>
              <a:rPr b="0" i="0" lang="en-US" sz="14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заказаны, но не введены в оборот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9006611" y="4069080"/>
            <a:ext cx="2636444" cy="2011680"/>
          </a:xfrm>
          <a:prstGeom prst="roundRect">
            <a:avLst>
              <a:gd fmla="val 5455" name="adj"/>
            </a:avLst>
          </a:prstGeom>
          <a:solidFill>
            <a:srgbClr val="1D1D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9"/>
          <p:cNvSpPr/>
          <p:nvPr/>
        </p:nvSpPr>
        <p:spPr>
          <a:xfrm>
            <a:off x="9235211" y="4297680"/>
            <a:ext cx="457200" cy="457200"/>
          </a:xfrm>
          <a:prstGeom prst="ellipse">
            <a:avLst/>
          </a:prstGeom>
          <a:solidFill>
            <a:srgbClr val="2E3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49511" y="44119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/>
        </p:nvSpPr>
        <p:spPr>
          <a:xfrm>
            <a:off x="9235211" y="4864608"/>
            <a:ext cx="2179244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C2D6"/>
              </a:buClr>
              <a:buSzPts val="1600"/>
              <a:buFont typeface="Mulish"/>
              <a:buNone/>
            </a:pPr>
            <a:r>
              <a:rPr b="1" i="0" lang="en-US" sz="1600" u="none" cap="none" strike="noStrike">
                <a:solidFill>
                  <a:srgbClr val="BCC2D6"/>
                </a:solidFill>
                <a:latin typeface="Mulish"/>
                <a:ea typeface="Mulish"/>
                <a:cs typeface="Mulish"/>
                <a:sym typeface="Mulish"/>
              </a:rPr>
              <a:t>Невозвращённые возвраты</a:t>
            </a:r>
            <a:endParaRPr b="0" i="0" sz="16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3" name="Google Shape;83;p9"/>
          <p:cNvSpPr txBox="1"/>
          <p:nvPr/>
        </p:nvSpPr>
        <p:spPr>
          <a:xfrm>
            <a:off x="9235211" y="5431536"/>
            <a:ext cx="21792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400"/>
              <a:buFont typeface="Golos Text"/>
              <a:buNone/>
            </a:pPr>
            <a:r>
              <a:rPr b="0" i="0" lang="en-US" sz="14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код не введён обратно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4" name="Google Shape;84;p9"/>
          <p:cNvSpPr txBox="1"/>
          <p:nvPr>
            <p:ph idx="4294967295" type="sldNum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‹#›</a:t>
            </a:fld>
            <a:endParaRPr b="0" i="0" sz="1000" u="none" cap="none" strike="noStrike">
              <a:solidFill>
                <a:srgbClr val="B8B7C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/>
        </p:nvSpPr>
        <p:spPr>
          <a:xfrm>
            <a:off x="548640" y="457200"/>
            <a:ext cx="1109441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B6F8"/>
              </a:buClr>
              <a:buSzPts val="1100"/>
              <a:buFont typeface="Golos Text"/>
              <a:buNone/>
            </a:pPr>
            <a:r>
              <a:rPr b="1" i="0" lang="en-US" spc="160" sz="1100" u="none" cap="none" strike="noStrike">
                <a:solidFill>
                  <a:srgbClr val="C2B6F8"/>
                </a:solidFill>
                <a:latin typeface="Golos Text"/>
                <a:ea typeface="Golos Text"/>
                <a:cs typeface="Golos Text"/>
                <a:sym typeface="Golos Text"/>
              </a:rPr>
              <a:t>ЧЕМ ОТЛИЧАЕМСЯ</a:t>
            </a:r>
            <a:endParaRPr b="0" i="0" sz="11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3200"/>
              <a:buFont typeface="Mulish"/>
              <a:buNone/>
            </a:pPr>
            <a:r>
              <a:rPr b="1" lang="en-US" sz="3200">
                <a:solidFill>
                  <a:srgbClr val="F2F1EC"/>
                </a:solidFill>
                <a:latin typeface="Mulish"/>
                <a:ea typeface="Mulish"/>
                <a:cs typeface="Mulish"/>
                <a:sym typeface="Mulish"/>
              </a:rPr>
              <a:t>Сверку двух систем не делает никто</a:t>
            </a:r>
            <a:endParaRPr sz="3200"/>
          </a:p>
        </p:txBody>
      </p:sp>
      <p:graphicFrame>
        <p:nvGraphicFramePr>
          <p:cNvPr id="92" name="Google Shape;92;p10"/>
          <p:cNvGraphicFramePr/>
          <p:nvPr/>
        </p:nvGraphicFramePr>
        <p:xfrm>
          <a:off x="54864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{0082E1B6-488D-4547-9070-F59CE908729B}</a:tableStyleId>
              </a:tblPr>
              <a:tblGrid>
                <a:gridCol w="4876500"/>
                <a:gridCol w="1554475"/>
                <a:gridCol w="1554475"/>
                <a:gridCol w="1554475"/>
                <a:gridCol w="1554475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B7C2"/>
                        </a:buClr>
                        <a:buSzPts val="1200"/>
                        <a:buFont typeface="Golos Text"/>
                        <a:buNone/>
                      </a:pPr>
                      <a:r>
                        <a:rPr lang="en-US" sz="1200" u="none" cap="none" strike="noStrike">
                          <a:solidFill>
                            <a:srgbClr val="B8B7C2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Возможность</a:t>
                      </a:r>
                      <a:endParaRPr sz="12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128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B7C2"/>
                        </a:buClr>
                        <a:buSzPts val="1200"/>
                        <a:buFont typeface="Golos Text"/>
                        <a:buNone/>
                      </a:pPr>
                      <a:r>
                        <a:rPr lang="en-US" sz="1200" u="none" cap="none" strike="noStrike">
                          <a:solidFill>
                            <a:srgbClr val="B8B7C2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Аналитика</a:t>
                      </a:r>
                      <a:endParaRPr sz="12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B7C2"/>
                        </a:buClr>
                        <a:buSzPts val="1200"/>
                        <a:buFont typeface="Golos Text"/>
                        <a:buNone/>
                      </a:pPr>
                      <a:r>
                        <a:rPr lang="en-US" sz="1200" u="none" cap="none" strike="noStrike">
                          <a:solidFill>
                            <a:srgbClr val="B8B7C2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Маркировка</a:t>
                      </a:r>
                      <a:endParaRPr sz="12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B7C2"/>
                        </a:buClr>
                        <a:buSzPts val="1200"/>
                        <a:buFont typeface="Golos Text"/>
                        <a:buNone/>
                      </a:pPr>
                      <a:r>
                        <a:rPr lang="en-US" sz="1200" u="none" cap="none" strike="noStrike">
                          <a:solidFill>
                            <a:srgbClr val="B8B7C2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Товароучёт</a:t>
                      </a:r>
                      <a:endParaRPr sz="12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B6F8"/>
                        </a:buClr>
                        <a:buSzPts val="1200"/>
                        <a:buFont typeface="Golos Text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C2B6F8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litekiz</a:t>
                      </a:r>
                      <a:endParaRPr sz="12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305C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1EC"/>
                        </a:buClr>
                        <a:buSzPts val="1400"/>
                        <a:buFont typeface="Golos Text"/>
                        <a:buNone/>
                      </a:pPr>
                      <a:r>
                        <a:rPr lang="en-US" sz="1400" u="none" cap="none" strike="noStrike">
                          <a:solidFill>
                            <a:srgbClr val="F2F1EC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Остатки, заказы, возвраты площадок</a:t>
                      </a:r>
                      <a:endParaRPr sz="14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128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FD3A4"/>
                        </a:buClr>
                        <a:buSzPts val="1400"/>
                        <a:buFont typeface="Golos Text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8FD3A4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да</a:t>
                      </a:r>
                      <a:endParaRPr sz="14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594A1"/>
                        </a:buClr>
                        <a:buSzPts val="1400"/>
                        <a:buFont typeface="Golos Text"/>
                        <a:buNone/>
                      </a:pPr>
                      <a:r>
                        <a:rPr lang="en-US" sz="1400" u="none" cap="none" strike="noStrike">
                          <a:solidFill>
                            <a:srgbClr val="9594A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нет</a:t>
                      </a:r>
                      <a:endParaRPr sz="14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FD3A4"/>
                        </a:buClr>
                        <a:buSzPts val="1400"/>
                        <a:buFont typeface="Golos Text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8FD3A4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да</a:t>
                      </a:r>
                      <a:endParaRPr sz="14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FD3A4"/>
                        </a:buClr>
                        <a:buSzPts val="1400"/>
                        <a:buFont typeface="Golos Text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8FD3A4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да</a:t>
                      </a:r>
                      <a:endParaRPr sz="14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305C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1EC"/>
                        </a:buClr>
                        <a:buSzPts val="1400"/>
                        <a:buFont typeface="Golos Text"/>
                        <a:buNone/>
                      </a:pPr>
                      <a:r>
                        <a:rPr lang="en-US" sz="1400" u="none" cap="none" strike="noStrike">
                          <a:solidFill>
                            <a:srgbClr val="F2F1EC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Коды в ГИС МТ</a:t>
                      </a:r>
                      <a:endParaRPr sz="14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128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594A1"/>
                        </a:buClr>
                        <a:buSzPts val="1400"/>
                        <a:buFont typeface="Golos Text"/>
                        <a:buNone/>
                      </a:pPr>
                      <a:r>
                        <a:rPr lang="en-US" sz="1400" u="none" cap="none" strike="noStrike">
                          <a:solidFill>
                            <a:srgbClr val="9594A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нет</a:t>
                      </a:r>
                      <a:endParaRPr sz="14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FD3A4"/>
                        </a:buClr>
                        <a:buSzPts val="1400"/>
                        <a:buFont typeface="Golos Text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8FD3A4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да</a:t>
                      </a:r>
                      <a:endParaRPr sz="14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C56C"/>
                        </a:buClr>
                        <a:buSzPts val="1400"/>
                        <a:buFont typeface="Golos Text"/>
                        <a:buNone/>
                      </a:pPr>
                      <a:r>
                        <a:rPr lang="en-US" sz="1400" u="none" cap="none" strike="noStrike">
                          <a:solidFill>
                            <a:srgbClr val="E8C56C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частично</a:t>
                      </a:r>
                      <a:endParaRPr sz="14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FD3A4"/>
                        </a:buClr>
                        <a:buSzPts val="1400"/>
                        <a:buFont typeface="Golos Text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8FD3A4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да</a:t>
                      </a:r>
                      <a:endParaRPr sz="14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305C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1EC"/>
                        </a:buClr>
                        <a:buSzPts val="1400"/>
                        <a:buFont typeface="Golos Text"/>
                        <a:buNone/>
                      </a:pPr>
                      <a:r>
                        <a:rPr lang="en-US" sz="1400" u="none" cap="none" strike="noStrike">
                          <a:solidFill>
                            <a:srgbClr val="F2F1EC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Сверка кодов с остатками на складах площадок</a:t>
                      </a:r>
                      <a:endParaRPr sz="14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128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594A1"/>
                        </a:buClr>
                        <a:buSzPts val="1400"/>
                        <a:buFont typeface="Golos Text"/>
                        <a:buNone/>
                      </a:pPr>
                      <a:r>
                        <a:rPr lang="en-US" sz="1400" u="none" cap="none" strike="noStrike">
                          <a:solidFill>
                            <a:srgbClr val="9594A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нет</a:t>
                      </a:r>
                      <a:endParaRPr sz="14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594A1"/>
                        </a:buClr>
                        <a:buSzPts val="1400"/>
                        <a:buFont typeface="Golos Text"/>
                        <a:buNone/>
                      </a:pPr>
                      <a:r>
                        <a:rPr lang="en-US" sz="1400" u="none" cap="none" strike="noStrike">
                          <a:solidFill>
                            <a:srgbClr val="9594A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нет</a:t>
                      </a:r>
                      <a:endParaRPr sz="14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594A1"/>
                        </a:buClr>
                        <a:buSzPts val="1400"/>
                        <a:buFont typeface="Golos Text"/>
                        <a:buNone/>
                      </a:pPr>
                      <a:r>
                        <a:rPr lang="en-US" sz="1400" u="none" cap="none" strike="noStrike">
                          <a:solidFill>
                            <a:srgbClr val="9594A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нет</a:t>
                      </a:r>
                      <a:endParaRPr sz="14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FD3A4"/>
                        </a:buClr>
                        <a:buSzPts val="1400"/>
                        <a:buFont typeface="Golos Text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8FD3A4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да</a:t>
                      </a:r>
                      <a:endParaRPr sz="14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305C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1EC"/>
                        </a:buClr>
                        <a:buSzPts val="1400"/>
                        <a:buFont typeface="Golos Text"/>
                        <a:buNone/>
                      </a:pPr>
                      <a:r>
                        <a:rPr lang="en-US" sz="1400" u="none" cap="none" strike="noStrike">
                          <a:solidFill>
                            <a:srgbClr val="F2F1EC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Цена каждого расхождения и статус работы</a:t>
                      </a:r>
                      <a:endParaRPr sz="14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128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594A1"/>
                        </a:buClr>
                        <a:buSzPts val="1400"/>
                        <a:buFont typeface="Golos Text"/>
                        <a:buNone/>
                      </a:pPr>
                      <a:r>
                        <a:rPr lang="en-US" sz="1400" u="none" cap="none" strike="noStrike">
                          <a:solidFill>
                            <a:srgbClr val="9594A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нет</a:t>
                      </a:r>
                      <a:endParaRPr sz="14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594A1"/>
                        </a:buClr>
                        <a:buSzPts val="1400"/>
                        <a:buFont typeface="Golos Text"/>
                        <a:buNone/>
                      </a:pPr>
                      <a:r>
                        <a:rPr lang="en-US" sz="1400" u="none" cap="none" strike="noStrike">
                          <a:solidFill>
                            <a:srgbClr val="9594A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нет</a:t>
                      </a:r>
                      <a:endParaRPr sz="14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594A1"/>
                        </a:buClr>
                        <a:buSzPts val="1400"/>
                        <a:buFont typeface="Golos Text"/>
                        <a:buNone/>
                      </a:pPr>
                      <a:r>
                        <a:rPr lang="en-US" sz="1400" u="none" cap="none" strike="noStrike">
                          <a:solidFill>
                            <a:srgbClr val="9594A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нет</a:t>
                      </a:r>
                      <a:endParaRPr sz="14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FD3A4"/>
                        </a:buClr>
                        <a:buSzPts val="1400"/>
                        <a:buFont typeface="Golos Text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8FD3A4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да</a:t>
                      </a:r>
                      <a:endParaRPr sz="14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305C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1EC"/>
                        </a:buClr>
                        <a:buSzPts val="1400"/>
                        <a:buFont typeface="Golos Text"/>
                        <a:buNone/>
                      </a:pPr>
                      <a:r>
                        <a:rPr lang="en-US" sz="1400" u="none" cap="none" strike="noStrike">
                          <a:solidFill>
                            <a:srgbClr val="F2F1EC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Заказ кодов, ввод в оборот, документы</a:t>
                      </a:r>
                      <a:endParaRPr sz="14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128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594A1"/>
                        </a:buClr>
                        <a:buSzPts val="1400"/>
                        <a:buFont typeface="Golos Text"/>
                        <a:buNone/>
                      </a:pPr>
                      <a:r>
                        <a:rPr lang="en-US" sz="1400" u="none" cap="none" strike="noStrike">
                          <a:solidFill>
                            <a:srgbClr val="9594A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нет</a:t>
                      </a:r>
                      <a:endParaRPr sz="14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FD3A4"/>
                        </a:buClr>
                        <a:buSzPts val="1400"/>
                        <a:buFont typeface="Golos Text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8FD3A4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да</a:t>
                      </a:r>
                      <a:endParaRPr sz="14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FD3A4"/>
                        </a:buClr>
                        <a:buSzPts val="1400"/>
                        <a:buFont typeface="Golos Text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8FD3A4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да</a:t>
                      </a:r>
                      <a:endParaRPr sz="14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B7C2"/>
                        </a:buClr>
                        <a:buSzPts val="1400"/>
                        <a:buFont typeface="Golos Text"/>
                        <a:buNone/>
                      </a:pPr>
                      <a:r>
                        <a:rPr lang="en-US" sz="1400" u="none" cap="none" strike="noStrike">
                          <a:solidFill>
                            <a:srgbClr val="B8B7C2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не делаем</a:t>
                      </a:r>
                      <a:endParaRPr sz="14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0" marB="0" marR="91450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305C"/>
                    </a:solidFill>
                  </a:tcPr>
                </a:tc>
              </a:tr>
            </a:tbl>
          </a:graphicData>
        </a:graphic>
      </p:graphicFrame>
      <p:sp>
        <p:nvSpPr>
          <p:cNvPr id="93" name="Google Shape;93;p10"/>
          <p:cNvSpPr txBox="1"/>
          <p:nvPr/>
        </p:nvSpPr>
        <p:spPr>
          <a:xfrm>
            <a:off x="548640" y="4215384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B7C2"/>
              </a:buClr>
              <a:buSzPts val="1200"/>
              <a:buFont typeface="Golos Text"/>
              <a:buNone/>
            </a:pPr>
            <a:r>
              <a:rPr b="1" i="0" lang="en-US" sz="12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Аналитика</a:t>
            </a:r>
            <a:r>
              <a:rPr b="0" i="0" lang="en-US" sz="12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 — MPStats, Wildbox, Shopstat · </a:t>
            </a:r>
            <a:r>
              <a:rPr b="1" i="0" lang="en-US" sz="12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Маркировка</a:t>
            </a:r>
            <a:r>
              <a:rPr b="0" i="0" lang="en-US" sz="12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 — SelSup, GetMark, Контур.Маркировка, MarkZnak, Saby · </a:t>
            </a:r>
            <a:r>
              <a:rPr b="1" i="0" lang="en-US" sz="12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Товароучёт</a:t>
            </a:r>
            <a:r>
              <a:rPr b="0" i="0" lang="en-US" sz="12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 — МойСклад, 1С, Клеверенс</a:t>
            </a:r>
            <a:endParaRPr b="0" i="0" sz="12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548640" y="4800600"/>
            <a:ext cx="11094415" cy="777240"/>
          </a:xfrm>
          <a:prstGeom prst="roundRect">
            <a:avLst>
              <a:gd fmla="val 14118" name="adj"/>
            </a:avLst>
          </a:prstGeom>
          <a:solidFill>
            <a:srgbClr val="3E3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504291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0"/>
          <p:cNvSpPr txBox="1"/>
          <p:nvPr/>
        </p:nvSpPr>
        <p:spPr>
          <a:xfrm>
            <a:off x="1399032" y="4910328"/>
            <a:ext cx="10015423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400"/>
              <a:buFont typeface="Golos Text"/>
              <a:buNone/>
            </a:pPr>
            <a:r>
              <a:rPr b="1" i="0" lang="en-US" sz="14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Риск: </a:t>
            </a:r>
            <a:r>
              <a:rPr b="0" i="0" lang="en-US" sz="14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МойСклад и SelSup уже держат обе стороны данных и могут добавить такой отчёт. Наш ответ — скорость, глубина сверки и партнёрский канал.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97" name="Google Shape;97;p10"/>
          <p:cNvSpPr txBox="1"/>
          <p:nvPr>
            <p:ph idx="4294967295" type="sldNum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594A1"/>
                </a:solidFill>
                <a:latin typeface="Golos Text"/>
                <a:ea typeface="Golos Text"/>
                <a:cs typeface="Golos Text"/>
                <a:sym typeface="Golos Text"/>
              </a:rPr>
              <a:t>‹#›</a:t>
            </a:fld>
            <a:endParaRPr b="0" i="0" sz="1000" u="none" cap="none" strike="noStrike">
              <a:solidFill>
                <a:srgbClr val="9594A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"/>
          <p:cNvSpPr txBox="1"/>
          <p:nvPr/>
        </p:nvSpPr>
        <p:spPr>
          <a:xfrm>
            <a:off x="548640" y="457200"/>
            <a:ext cx="1109441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B6F8"/>
              </a:buClr>
              <a:buSzPts val="1100"/>
              <a:buFont typeface="Golos Text"/>
              <a:buNone/>
            </a:pPr>
            <a:r>
              <a:rPr b="1" i="0" lang="en-US" spc="160" sz="1100" u="none" cap="none" strike="noStrike">
                <a:solidFill>
                  <a:srgbClr val="C2B6F8"/>
                </a:solidFill>
                <a:latin typeface="Golos Text"/>
                <a:ea typeface="Golos Text"/>
                <a:cs typeface="Golos Text"/>
                <a:sym typeface="Golos Text"/>
              </a:rPr>
              <a:t>КАК ЗАРАБАТЫВАЕМ</a:t>
            </a:r>
            <a:endParaRPr b="0" i="0" sz="11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04" name="Google Shape;104;p11"/>
          <p:cNvSpPr txBox="1"/>
          <p:nvPr>
            <p:ph type="title"/>
          </p:nvPr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3200"/>
              <a:buFont typeface="Mulish"/>
              <a:buNone/>
            </a:pPr>
            <a:r>
              <a:rPr b="1" lang="en-US" sz="3200">
                <a:solidFill>
                  <a:srgbClr val="F2F1EC"/>
                </a:solidFill>
                <a:latin typeface="Mulish"/>
                <a:ea typeface="Mulish"/>
                <a:cs typeface="Mulish"/>
                <a:sym typeface="Mulish"/>
              </a:rPr>
              <a:t>Подписка. Единица тарифа — коды в обороте</a:t>
            </a:r>
            <a:endParaRPr sz="3200"/>
          </a:p>
        </p:txBody>
      </p:sp>
      <p:sp>
        <p:nvSpPr>
          <p:cNvPr id="105" name="Google Shape;105;p11"/>
          <p:cNvSpPr/>
          <p:nvPr/>
        </p:nvSpPr>
        <p:spPr>
          <a:xfrm>
            <a:off x="548640" y="1600200"/>
            <a:ext cx="2636444" cy="2377440"/>
          </a:xfrm>
          <a:prstGeom prst="roundRect">
            <a:avLst>
              <a:gd fmla="val 4615" name="adj"/>
            </a:avLst>
          </a:prstGeom>
          <a:solidFill>
            <a:srgbClr val="26262E"/>
          </a:solidFill>
          <a:ln cap="flat" cmpd="sng" w="9525">
            <a:solidFill>
              <a:srgbClr val="3A3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1"/>
          <p:cNvSpPr txBox="1"/>
          <p:nvPr/>
        </p:nvSpPr>
        <p:spPr>
          <a:xfrm>
            <a:off x="777240" y="1801368"/>
            <a:ext cx="21792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B7C2"/>
              </a:buClr>
              <a:buSzPts val="1800"/>
              <a:buFont typeface="Mulish"/>
              <a:buNone/>
            </a:pPr>
            <a:r>
              <a:rPr b="1" i="0" lang="en-US" sz="1800" u="none" cap="none" strike="noStrike">
                <a:solidFill>
                  <a:srgbClr val="B8B7C2"/>
                </a:solidFill>
                <a:latin typeface="Mulish"/>
                <a:ea typeface="Mulish"/>
                <a:cs typeface="Mulish"/>
                <a:sym typeface="Mulish"/>
              </a:rPr>
              <a:t>Старт</a:t>
            </a:r>
            <a:endParaRPr b="0" i="0" sz="18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>
            <a:off x="777240" y="2167128"/>
            <a:ext cx="217924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3000"/>
              <a:buFont typeface="Mulish"/>
              <a:buNone/>
            </a:pPr>
            <a:r>
              <a:rPr b="1" i="0" lang="en-US" sz="3000" u="none" cap="none" strike="noStrike">
                <a:solidFill>
                  <a:srgbClr val="F2F1EC"/>
                </a:solidFill>
                <a:latin typeface="Mulish"/>
                <a:ea typeface="Mulish"/>
                <a:cs typeface="Mulish"/>
                <a:sym typeface="Mulish"/>
              </a:rPr>
              <a:t>0 ₽</a:t>
            </a:r>
            <a:endParaRPr b="0" i="0" sz="3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>
            <a:off x="777240" y="2788920"/>
            <a:ext cx="217924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B7C2"/>
              </a:buClr>
              <a:buSzPts val="1400"/>
              <a:buFont typeface="Golos Text"/>
              <a:buNone/>
            </a:pPr>
            <a:r>
              <a:rPr b="0" i="0" lang="en-US" sz="14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Показывает проблему: сумма риска и 10 самых дорогих расхождений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3367964" y="1600200"/>
            <a:ext cx="2636444" cy="2377440"/>
          </a:xfrm>
          <a:prstGeom prst="roundRect">
            <a:avLst>
              <a:gd fmla="val 4615" name="adj"/>
            </a:avLst>
          </a:prstGeom>
          <a:solidFill>
            <a:srgbClr val="343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1"/>
          <p:cNvSpPr txBox="1"/>
          <p:nvPr/>
        </p:nvSpPr>
        <p:spPr>
          <a:xfrm>
            <a:off x="3596564" y="1801368"/>
            <a:ext cx="21792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B6F8"/>
              </a:buClr>
              <a:buSzPts val="1800"/>
              <a:buFont typeface="Mulish"/>
              <a:buNone/>
            </a:pPr>
            <a:r>
              <a:rPr b="1" i="0" lang="en-US" sz="1800" u="none" cap="none" strike="noStrike">
                <a:solidFill>
                  <a:srgbClr val="C2B6F8"/>
                </a:solidFill>
                <a:latin typeface="Mulish"/>
                <a:ea typeface="Mulish"/>
                <a:cs typeface="Mulish"/>
                <a:sym typeface="Mulish"/>
              </a:rPr>
              <a:t>Базовый</a:t>
            </a:r>
            <a:endParaRPr b="0" i="0" sz="18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11" name="Google Shape;111;p11"/>
          <p:cNvSpPr txBox="1"/>
          <p:nvPr/>
        </p:nvSpPr>
        <p:spPr>
          <a:xfrm>
            <a:off x="3596564" y="2167128"/>
            <a:ext cx="217924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B6F8"/>
              </a:buClr>
              <a:buSzPts val="3000"/>
              <a:buFont typeface="Mulish"/>
              <a:buNone/>
            </a:pPr>
            <a:r>
              <a:rPr b="1" i="0" lang="en-US" sz="3000" u="none" cap="none" strike="noStrike">
                <a:solidFill>
                  <a:srgbClr val="C2B6F8"/>
                </a:solidFill>
                <a:latin typeface="Mulish"/>
                <a:ea typeface="Mulish"/>
                <a:cs typeface="Mulish"/>
                <a:sym typeface="Mulish"/>
              </a:rPr>
              <a:t>1 990 ₽</a:t>
            </a:r>
            <a:endParaRPr b="0" i="0" sz="3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12" name="Google Shape;112;p11"/>
          <p:cNvSpPr txBox="1"/>
          <p:nvPr/>
        </p:nvSpPr>
        <p:spPr>
          <a:xfrm>
            <a:off x="3596564" y="2788920"/>
            <a:ext cx="217924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400"/>
              <a:buFont typeface="Golos Text"/>
              <a:buNone/>
            </a:pPr>
            <a:r>
              <a:rPr b="0" i="0" lang="en-US" sz="14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в месяц · до 20 000 кодов, сверка ежедневно, полный список, уведомления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6187288" y="1600200"/>
            <a:ext cx="2636444" cy="2377440"/>
          </a:xfrm>
          <a:prstGeom prst="roundRect">
            <a:avLst>
              <a:gd fmla="val 4615" name="adj"/>
            </a:avLst>
          </a:prstGeom>
          <a:solidFill>
            <a:srgbClr val="26262E"/>
          </a:solidFill>
          <a:ln cap="flat" cmpd="sng" w="9525">
            <a:solidFill>
              <a:srgbClr val="3A3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1"/>
          <p:cNvSpPr txBox="1"/>
          <p:nvPr/>
        </p:nvSpPr>
        <p:spPr>
          <a:xfrm>
            <a:off x="6415888" y="1801368"/>
            <a:ext cx="21792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B7C2"/>
              </a:buClr>
              <a:buSzPts val="1800"/>
              <a:buFont typeface="Mulish"/>
              <a:buNone/>
            </a:pPr>
            <a:r>
              <a:rPr b="1" i="0" lang="en-US" sz="1800" u="none" cap="none" strike="noStrike">
                <a:solidFill>
                  <a:srgbClr val="B8B7C2"/>
                </a:solidFill>
                <a:latin typeface="Mulish"/>
                <a:ea typeface="Mulish"/>
                <a:cs typeface="Mulish"/>
                <a:sym typeface="Mulish"/>
              </a:rPr>
              <a:t>Профи</a:t>
            </a:r>
            <a:endParaRPr b="0" i="0" sz="18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15" name="Google Shape;115;p11"/>
          <p:cNvSpPr txBox="1"/>
          <p:nvPr/>
        </p:nvSpPr>
        <p:spPr>
          <a:xfrm>
            <a:off x="6415888" y="2167128"/>
            <a:ext cx="217924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3000"/>
              <a:buFont typeface="Mulish"/>
              <a:buNone/>
            </a:pPr>
            <a:r>
              <a:rPr b="1" i="0" lang="en-US" sz="3000" u="none" cap="none" strike="noStrike">
                <a:solidFill>
                  <a:srgbClr val="F2F1EC"/>
                </a:solidFill>
                <a:latin typeface="Mulish"/>
                <a:ea typeface="Mulish"/>
                <a:cs typeface="Mulish"/>
                <a:sym typeface="Mulish"/>
              </a:rPr>
              <a:t>4 990 ₽</a:t>
            </a:r>
            <a:endParaRPr b="0" i="0" sz="3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16" name="Google Shape;116;p11"/>
          <p:cNvSpPr txBox="1"/>
          <p:nvPr/>
        </p:nvSpPr>
        <p:spPr>
          <a:xfrm>
            <a:off x="6415888" y="2788920"/>
            <a:ext cx="217924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B7C2"/>
              </a:buClr>
              <a:buSzPts val="1400"/>
              <a:buFont typeface="Golos Text"/>
              <a:buNone/>
            </a:pPr>
            <a:r>
              <a:rPr b="0" i="0" lang="en-US" sz="14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в месяц · до 3 юрлиц и 200 000 кодов, роли, API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9006611" y="1600200"/>
            <a:ext cx="2636444" cy="2377440"/>
          </a:xfrm>
          <a:prstGeom prst="roundRect">
            <a:avLst>
              <a:gd fmla="val 4615" name="adj"/>
            </a:avLst>
          </a:prstGeom>
          <a:solidFill>
            <a:srgbClr val="26262E"/>
          </a:solidFill>
          <a:ln cap="flat" cmpd="sng" w="9525">
            <a:solidFill>
              <a:srgbClr val="3A3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1"/>
          <p:cNvSpPr txBox="1"/>
          <p:nvPr/>
        </p:nvSpPr>
        <p:spPr>
          <a:xfrm>
            <a:off x="9235211" y="1801368"/>
            <a:ext cx="21792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B7C2"/>
              </a:buClr>
              <a:buSzPts val="1800"/>
              <a:buFont typeface="Mulish"/>
              <a:buNone/>
            </a:pPr>
            <a:r>
              <a:rPr b="1" i="0" lang="en-US" sz="1800" u="none" cap="none" strike="noStrike">
                <a:solidFill>
                  <a:srgbClr val="B8B7C2"/>
                </a:solidFill>
                <a:latin typeface="Mulish"/>
                <a:ea typeface="Mulish"/>
                <a:cs typeface="Mulish"/>
                <a:sym typeface="Mulish"/>
              </a:rPr>
              <a:t>Партнёрский</a:t>
            </a:r>
            <a:endParaRPr b="0" i="0" sz="18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19" name="Google Shape;119;p11"/>
          <p:cNvSpPr txBox="1"/>
          <p:nvPr/>
        </p:nvSpPr>
        <p:spPr>
          <a:xfrm>
            <a:off x="9235211" y="2167128"/>
            <a:ext cx="217924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3000"/>
              <a:buFont typeface="Mulish"/>
              <a:buNone/>
            </a:pPr>
            <a:r>
              <a:rPr b="1" i="0" lang="en-US" sz="3000" u="none" cap="none" strike="noStrike">
                <a:solidFill>
                  <a:srgbClr val="F2F1EC"/>
                </a:solidFill>
                <a:latin typeface="Mulish"/>
                <a:ea typeface="Mulish"/>
                <a:cs typeface="Mulish"/>
                <a:sym typeface="Mulish"/>
              </a:rPr>
              <a:t>от 9 990 ₽</a:t>
            </a:r>
            <a:endParaRPr b="0" i="0" sz="3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20" name="Google Shape;120;p11"/>
          <p:cNvSpPr txBox="1"/>
          <p:nvPr/>
        </p:nvSpPr>
        <p:spPr>
          <a:xfrm>
            <a:off x="9235211" y="2788920"/>
            <a:ext cx="217924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B7C2"/>
              </a:buClr>
              <a:buSzPts val="1400"/>
              <a:buFont typeface="Golos Text"/>
              <a:buNone/>
            </a:pPr>
            <a:r>
              <a:rPr b="0" i="0" lang="en-US" sz="14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в месяц · фулфилменты и бухгалтерии: от 10 клиентов в одном окне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548640" y="4251960"/>
            <a:ext cx="5455768" cy="1600200"/>
          </a:xfrm>
          <a:prstGeom prst="roundRect">
            <a:avLst>
              <a:gd fmla="val 6857" name="adj"/>
            </a:avLst>
          </a:prstGeom>
          <a:solidFill>
            <a:srgbClr val="26262E"/>
          </a:solidFill>
          <a:ln cap="flat" cmpd="sng" w="9525">
            <a:solidFill>
              <a:srgbClr val="3A3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1"/>
          <p:cNvSpPr/>
          <p:nvPr/>
        </p:nvSpPr>
        <p:spPr>
          <a:xfrm>
            <a:off x="777240" y="4480560"/>
            <a:ext cx="457200" cy="457200"/>
          </a:xfrm>
          <a:prstGeom prst="ellipse">
            <a:avLst/>
          </a:prstGeom>
          <a:solidFill>
            <a:srgbClr val="1D1D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" y="45948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1"/>
          <p:cNvSpPr txBox="1"/>
          <p:nvPr/>
        </p:nvSpPr>
        <p:spPr>
          <a:xfrm>
            <a:off x="1380744" y="4434840"/>
            <a:ext cx="43950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2000"/>
              <a:buFont typeface="Mulish"/>
              <a:buNone/>
            </a:pPr>
            <a:r>
              <a:rPr b="1" i="0" lang="en-US" sz="2000" u="none" cap="none" strike="noStrike">
                <a:solidFill>
                  <a:srgbClr val="F2F1EC"/>
                </a:solidFill>
                <a:latin typeface="Mulish"/>
                <a:ea typeface="Mulish"/>
                <a:cs typeface="Mulish"/>
                <a:sym typeface="Mulish"/>
              </a:rPr>
              <a:t>330 клиентов = 1 млн ₽/мес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25" name="Google Shape;125;p11"/>
          <p:cNvSpPr txBox="1"/>
          <p:nvPr/>
        </p:nvSpPr>
        <p:spPr>
          <a:xfrm>
            <a:off x="777240" y="5193792"/>
            <a:ext cx="4998568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B7C2"/>
              </a:buClr>
              <a:buSzPts val="1400"/>
              <a:buFont typeface="Golos Text"/>
              <a:buNone/>
            </a:pPr>
            <a:r>
              <a:rPr b="0" i="0" lang="en-US" sz="14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при среднем чеке 3 000 ₽. Цель полугодия — доказать конверсию: 20–30 платящих к марту 2027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6187288" y="4251960"/>
            <a:ext cx="5455768" cy="1600200"/>
          </a:xfrm>
          <a:prstGeom prst="roundRect">
            <a:avLst>
              <a:gd fmla="val 6857" name="adj"/>
            </a:avLst>
          </a:prstGeom>
          <a:solidFill>
            <a:srgbClr val="26262E"/>
          </a:solidFill>
          <a:ln cap="flat" cmpd="sng" w="9525">
            <a:solidFill>
              <a:srgbClr val="3A3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1"/>
          <p:cNvSpPr/>
          <p:nvPr/>
        </p:nvSpPr>
        <p:spPr>
          <a:xfrm>
            <a:off x="6415888" y="4480560"/>
            <a:ext cx="457200" cy="457200"/>
          </a:xfrm>
          <a:prstGeom prst="ellipse">
            <a:avLst/>
          </a:prstGeom>
          <a:solidFill>
            <a:srgbClr val="1D1D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0188" y="45948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1"/>
          <p:cNvSpPr txBox="1"/>
          <p:nvPr/>
        </p:nvSpPr>
        <p:spPr>
          <a:xfrm>
            <a:off x="7019392" y="4434840"/>
            <a:ext cx="43950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2000"/>
              <a:buFont typeface="Mulish"/>
              <a:buNone/>
            </a:pPr>
            <a:r>
              <a:rPr b="1" i="0" lang="en-US" sz="2000" u="none" cap="none" strike="noStrike">
                <a:solidFill>
                  <a:srgbClr val="F2F1EC"/>
                </a:solidFill>
                <a:latin typeface="Mulish"/>
                <a:ea typeface="Mulish"/>
                <a:cs typeface="Mulish"/>
                <a:sym typeface="Mulish"/>
              </a:rPr>
              <a:t>Дешевле полного цикла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30" name="Google Shape;130;p11"/>
          <p:cNvSpPr txBox="1"/>
          <p:nvPr/>
        </p:nvSpPr>
        <p:spPr>
          <a:xfrm>
            <a:off x="6415888" y="5193792"/>
            <a:ext cx="4998568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B7C2"/>
              </a:buClr>
              <a:buSzPts val="1400"/>
              <a:buFont typeface="Golos Text"/>
              <a:buNone/>
            </a:pPr>
            <a:r>
              <a:rPr b="0" i="0" lang="en-US" sz="14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сервисы маркировки стоят 1 500–6 000 ₽ в месяц; litekiz — дополнение к ним, а не замена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31" name="Google Shape;131;p11"/>
          <p:cNvSpPr txBox="1"/>
          <p:nvPr>
            <p:ph idx="4294967295" type="sldNum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594A1"/>
                </a:solidFill>
                <a:latin typeface="Golos Text"/>
                <a:ea typeface="Golos Text"/>
                <a:cs typeface="Golos Text"/>
                <a:sym typeface="Golos Text"/>
              </a:rPr>
              <a:t>‹#›</a:t>
            </a:fld>
            <a:endParaRPr b="0" i="0" sz="1000" u="none" cap="none" strike="noStrike">
              <a:solidFill>
                <a:srgbClr val="9594A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"/>
          <p:cNvSpPr txBox="1"/>
          <p:nvPr/>
        </p:nvSpPr>
        <p:spPr>
          <a:xfrm>
            <a:off x="548640" y="457200"/>
            <a:ext cx="1109441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B6F8"/>
              </a:buClr>
              <a:buSzPts val="1100"/>
              <a:buFont typeface="Golos Text"/>
              <a:buNone/>
            </a:pPr>
            <a:r>
              <a:rPr b="1" i="0" lang="en-US" spc="160" sz="1100" u="none" cap="none" strike="noStrike">
                <a:solidFill>
                  <a:srgbClr val="C2B6F8"/>
                </a:solidFill>
                <a:latin typeface="Golos Text"/>
                <a:ea typeface="Golos Text"/>
                <a:cs typeface="Golos Text"/>
                <a:sym typeface="Golos Text"/>
              </a:rPr>
              <a:t>КОМАНДА</a:t>
            </a:r>
            <a:endParaRPr b="0" i="0" sz="11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38" name="Google Shape;138;p12"/>
          <p:cNvSpPr txBox="1"/>
          <p:nvPr>
            <p:ph type="title"/>
          </p:nvPr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3200"/>
              <a:buFont typeface="Mulish"/>
              <a:buNone/>
            </a:pPr>
            <a:r>
              <a:rPr b="1" lang="en-US" sz="3200">
                <a:solidFill>
                  <a:srgbClr val="F2F1EC"/>
                </a:solidFill>
                <a:latin typeface="Mulish"/>
                <a:ea typeface="Mulish"/>
                <a:cs typeface="Mulish"/>
                <a:sym typeface="Mulish"/>
              </a:rPr>
              <a:t>Команда из двух разработчиков</a:t>
            </a:r>
            <a:endParaRPr sz="3200"/>
          </a:p>
        </p:txBody>
      </p:sp>
      <p:sp>
        <p:nvSpPr>
          <p:cNvPr id="139" name="Google Shape;139;p12"/>
          <p:cNvSpPr/>
          <p:nvPr/>
        </p:nvSpPr>
        <p:spPr>
          <a:xfrm>
            <a:off x="548640" y="1600200"/>
            <a:ext cx="5455768" cy="2377440"/>
          </a:xfrm>
          <a:prstGeom prst="roundRect">
            <a:avLst>
              <a:gd fmla="val 4615" name="adj"/>
            </a:avLst>
          </a:prstGeom>
          <a:solidFill>
            <a:srgbClr val="26262E"/>
          </a:solidFill>
          <a:ln cap="flat" cmpd="sng" w="9525">
            <a:solidFill>
              <a:srgbClr val="3A3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Фото участника команды" id="140" name="Google Shape;14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965960"/>
            <a:ext cx="1645920" cy="164592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41" name="Google Shape;141;p12"/>
          <p:cNvSpPr/>
          <p:nvPr/>
        </p:nvSpPr>
        <p:spPr>
          <a:xfrm>
            <a:off x="868680" y="1965960"/>
            <a:ext cx="1645920" cy="1645920"/>
          </a:xfrm>
          <a:prstGeom prst="ellipse">
            <a:avLst/>
          </a:prstGeom>
          <a:noFill/>
          <a:ln cap="flat" cmpd="sng" w="19050">
            <a:solidFill>
              <a:srgbClr val="4C4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2"/>
          <p:cNvSpPr txBox="1"/>
          <p:nvPr/>
        </p:nvSpPr>
        <p:spPr>
          <a:xfrm>
            <a:off x="2834640" y="2011680"/>
            <a:ext cx="2895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2200"/>
              <a:buFont typeface="Mulish"/>
              <a:buNone/>
            </a:pPr>
            <a:r>
              <a:rPr b="1" lang="en-US" sz="2200">
                <a:solidFill>
                  <a:srgbClr val="F2F1EC"/>
                </a:solidFill>
                <a:latin typeface="Mulish"/>
                <a:ea typeface="Mulish"/>
                <a:cs typeface="Mulish"/>
                <a:sym typeface="Mulish"/>
              </a:rPr>
              <a:t>Меркулова Ксюшка</a:t>
            </a:r>
            <a:endParaRPr b="0" i="0" sz="22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43" name="Google Shape;143;p12"/>
          <p:cNvSpPr txBox="1"/>
          <p:nvPr/>
        </p:nvSpPr>
        <p:spPr>
          <a:xfrm>
            <a:off x="2834640" y="2487168"/>
            <a:ext cx="28954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2B6F8"/>
              </a:buClr>
              <a:buSzPts val="1400"/>
              <a:buFont typeface="Golos Text"/>
              <a:buNone/>
            </a:pPr>
            <a:r>
              <a:rPr lang="en-US">
                <a:solidFill>
                  <a:srgbClr val="C2B6F8"/>
                </a:solidFill>
                <a:latin typeface="Golos Text"/>
                <a:ea typeface="Golos Text"/>
                <a:cs typeface="Golos Text"/>
                <a:sym typeface="Golos Text"/>
              </a:rPr>
              <a:t>Вайбкодер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44" name="Google Shape;144;p12"/>
          <p:cNvSpPr txBox="1"/>
          <p:nvPr/>
        </p:nvSpPr>
        <p:spPr>
          <a:xfrm>
            <a:off x="2834640" y="3044952"/>
            <a:ext cx="28954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B7C2"/>
              </a:buClr>
              <a:buSzPts val="1400"/>
              <a:buFont typeface="Golos Text"/>
              <a:buNone/>
            </a:pPr>
            <a:r>
              <a:rPr lang="en-US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РТУ МИРЭА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45" name="Google Shape;145;p12"/>
          <p:cNvSpPr txBox="1"/>
          <p:nvPr/>
        </p:nvSpPr>
        <p:spPr>
          <a:xfrm>
            <a:off x="2834640" y="3355848"/>
            <a:ext cx="28954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B7C2"/>
              </a:buClr>
              <a:buSzPts val="1400"/>
              <a:buFont typeface="Golos Text"/>
              <a:buNone/>
            </a:pPr>
            <a:r>
              <a:rPr lang="en-US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https://github.com/merkulova-ki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6187288" y="1600200"/>
            <a:ext cx="5455768" cy="2377440"/>
          </a:xfrm>
          <a:prstGeom prst="roundRect">
            <a:avLst>
              <a:gd fmla="val 4615" name="adj"/>
            </a:avLst>
          </a:prstGeom>
          <a:solidFill>
            <a:srgbClr val="26262E"/>
          </a:solidFill>
          <a:ln cap="flat" cmpd="sng" w="9525">
            <a:solidFill>
              <a:srgbClr val="3A3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Фото участника команды" id="147" name="Google Shape;14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7328" y="1965960"/>
            <a:ext cx="1645920" cy="164592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48" name="Google Shape;148;p12"/>
          <p:cNvSpPr/>
          <p:nvPr/>
        </p:nvSpPr>
        <p:spPr>
          <a:xfrm>
            <a:off x="6507328" y="1965960"/>
            <a:ext cx="1645920" cy="1645920"/>
          </a:xfrm>
          <a:prstGeom prst="ellipse">
            <a:avLst/>
          </a:prstGeom>
          <a:noFill/>
          <a:ln cap="flat" cmpd="sng" w="19050">
            <a:solidFill>
              <a:srgbClr val="4C4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"/>
          <p:cNvSpPr txBox="1"/>
          <p:nvPr/>
        </p:nvSpPr>
        <p:spPr>
          <a:xfrm>
            <a:off x="8473288" y="2011680"/>
            <a:ext cx="2895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2200"/>
              <a:buFont typeface="Mulish"/>
              <a:buNone/>
            </a:pPr>
            <a:r>
              <a:rPr b="1" lang="en-US" sz="2200">
                <a:solidFill>
                  <a:srgbClr val="F2F1EC"/>
                </a:solidFill>
                <a:latin typeface="Mulish"/>
                <a:ea typeface="Mulish"/>
                <a:cs typeface="Mulish"/>
                <a:sym typeface="Mulish"/>
              </a:rPr>
              <a:t>Савина Машка</a:t>
            </a:r>
            <a:endParaRPr b="0" i="0" sz="22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50" name="Google Shape;150;p12"/>
          <p:cNvSpPr txBox="1"/>
          <p:nvPr/>
        </p:nvSpPr>
        <p:spPr>
          <a:xfrm>
            <a:off x="8473288" y="2487168"/>
            <a:ext cx="28954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2B6F8"/>
              </a:buClr>
              <a:buSzPts val="1400"/>
              <a:buFont typeface="Golos Text"/>
              <a:buNone/>
            </a:pPr>
            <a:r>
              <a:rPr lang="en-US">
                <a:solidFill>
                  <a:srgbClr val="C2B6F8"/>
                </a:solidFill>
                <a:latin typeface="Golos Text"/>
                <a:ea typeface="Golos Text"/>
                <a:cs typeface="Golos Text"/>
                <a:sym typeface="Golos Text"/>
              </a:rPr>
              <a:t>Вайбкодер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51" name="Google Shape;151;p12"/>
          <p:cNvSpPr txBox="1"/>
          <p:nvPr/>
        </p:nvSpPr>
        <p:spPr>
          <a:xfrm>
            <a:off x="8473288" y="3044952"/>
            <a:ext cx="28954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B7C2"/>
              </a:buClr>
              <a:buSzPts val="1400"/>
              <a:buFont typeface="Golos Text"/>
              <a:buNone/>
            </a:pPr>
            <a:r>
              <a:rPr lang="en-US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РТУ МИРЭА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52" name="Google Shape;152;p12"/>
          <p:cNvSpPr txBox="1"/>
          <p:nvPr/>
        </p:nvSpPr>
        <p:spPr>
          <a:xfrm>
            <a:off x="8473288" y="3355848"/>
            <a:ext cx="28954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B7C2"/>
              </a:buClr>
              <a:buSzPts val="1400"/>
              <a:buFont typeface="Golos Text"/>
              <a:buNone/>
            </a:pPr>
            <a:r>
              <a:rPr lang="en-US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https://github.com/Sez-e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53" name="Google Shape;153;p12"/>
          <p:cNvSpPr txBox="1"/>
          <p:nvPr/>
        </p:nvSpPr>
        <p:spPr>
          <a:xfrm>
            <a:off x="548640" y="438912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800"/>
              <a:buFont typeface="Mulish"/>
              <a:buNone/>
            </a:pPr>
            <a:r>
              <a:rPr b="1" i="0" lang="en-US" sz="1800" u="none" cap="none" strike="noStrike">
                <a:solidFill>
                  <a:srgbClr val="F2F1EC"/>
                </a:solidFill>
                <a:latin typeface="Mulish"/>
                <a:ea typeface="Mulish"/>
                <a:cs typeface="Mulish"/>
                <a:sym typeface="Mulish"/>
              </a:rPr>
              <a:t>Сделано своими силами</a:t>
            </a:r>
            <a:endParaRPr b="0" i="0" sz="18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548640" y="4846320"/>
            <a:ext cx="1874520" cy="365760"/>
          </a:xfrm>
          <a:prstGeom prst="roundRect">
            <a:avLst>
              <a:gd fmla="val 50000" name="adj"/>
            </a:avLst>
          </a:prstGeom>
          <a:solidFill>
            <a:srgbClr val="343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2"/>
          <p:cNvSpPr txBox="1"/>
          <p:nvPr/>
        </p:nvSpPr>
        <p:spPr>
          <a:xfrm>
            <a:off x="548640" y="484632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B6F8"/>
              </a:buClr>
              <a:buSzPts val="1300"/>
              <a:buFont typeface="Golos Text"/>
              <a:buNone/>
            </a:pPr>
            <a:r>
              <a:rPr b="0" i="0" lang="en-US" sz="1300" u="none" cap="none" strike="noStrike">
                <a:solidFill>
                  <a:srgbClr val="C2B6F8"/>
                </a:solidFill>
                <a:latin typeface="Golos Text"/>
                <a:ea typeface="Golos Text"/>
                <a:cs typeface="Golos Text"/>
                <a:sym typeface="Golos Text"/>
              </a:rPr>
              <a:t>Кабинет и сверка</a:t>
            </a:r>
            <a:endParaRPr b="0" i="0" sz="13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2551176" y="4846320"/>
            <a:ext cx="2441448" cy="365760"/>
          </a:xfrm>
          <a:prstGeom prst="roundRect">
            <a:avLst>
              <a:gd fmla="val 50000" name="adj"/>
            </a:avLst>
          </a:prstGeom>
          <a:solidFill>
            <a:srgbClr val="343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2"/>
          <p:cNvSpPr txBox="1"/>
          <p:nvPr/>
        </p:nvSpPr>
        <p:spPr>
          <a:xfrm>
            <a:off x="2551176" y="4846320"/>
            <a:ext cx="2441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B6F8"/>
              </a:buClr>
              <a:buSzPts val="1300"/>
              <a:buFont typeface="Golos Text"/>
              <a:buNone/>
            </a:pPr>
            <a:r>
              <a:rPr b="0" i="0" lang="en-US" sz="1300" u="none" cap="none" strike="noStrike">
                <a:solidFill>
                  <a:srgbClr val="C2B6F8"/>
                </a:solidFill>
                <a:latin typeface="Golos Text"/>
                <a:ea typeface="Golos Text"/>
                <a:cs typeface="Golos Text"/>
                <a:sym typeface="Golos Text"/>
              </a:rPr>
              <a:t>Бренд и дизайн-система</a:t>
            </a:r>
            <a:endParaRPr b="0" i="0" sz="13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5120640" y="4846320"/>
            <a:ext cx="1728216" cy="365760"/>
          </a:xfrm>
          <a:prstGeom prst="roundRect">
            <a:avLst>
              <a:gd fmla="val 50000" name="adj"/>
            </a:avLst>
          </a:prstGeom>
          <a:solidFill>
            <a:srgbClr val="343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"/>
          <p:cNvSpPr txBox="1"/>
          <p:nvPr/>
        </p:nvSpPr>
        <p:spPr>
          <a:xfrm>
            <a:off x="5120640" y="4846320"/>
            <a:ext cx="17282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B6F8"/>
              </a:buClr>
              <a:buSzPts val="1300"/>
              <a:buFont typeface="Golos Text"/>
              <a:buNone/>
            </a:pPr>
            <a:r>
              <a:rPr b="0" i="0" lang="en-US" sz="1300" u="none" cap="none" strike="noStrike">
                <a:solidFill>
                  <a:srgbClr val="C2B6F8"/>
                </a:solidFill>
                <a:latin typeface="Golos Text"/>
                <a:ea typeface="Golos Text"/>
                <a:cs typeface="Golos Text"/>
                <a:sym typeface="Golos Text"/>
              </a:rPr>
              <a:t>Лендинг и демо</a:t>
            </a:r>
            <a:endParaRPr b="0" i="0" sz="13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6976872" y="4846320"/>
            <a:ext cx="2066544" cy="365760"/>
          </a:xfrm>
          <a:prstGeom prst="roundRect">
            <a:avLst>
              <a:gd fmla="val 50000" name="adj"/>
            </a:avLst>
          </a:prstGeom>
          <a:solidFill>
            <a:srgbClr val="343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2"/>
          <p:cNvSpPr txBox="1"/>
          <p:nvPr/>
        </p:nvSpPr>
        <p:spPr>
          <a:xfrm>
            <a:off x="6976872" y="4846320"/>
            <a:ext cx="20665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B6F8"/>
              </a:buClr>
              <a:buSzPts val="1300"/>
              <a:buFont typeface="Golos Text"/>
              <a:buNone/>
            </a:pPr>
            <a:r>
              <a:rPr b="0" i="0" lang="en-US" sz="1300" u="none" cap="none" strike="noStrike">
                <a:solidFill>
                  <a:srgbClr val="C2B6F8"/>
                </a:solidFill>
                <a:latin typeface="Golos Text"/>
                <a:ea typeface="Golos Text"/>
                <a:cs typeface="Golos Text"/>
                <a:sym typeface="Golos Text"/>
              </a:rPr>
              <a:t>Гайд для продавцов</a:t>
            </a:r>
            <a:endParaRPr b="0" i="0" sz="13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9171432" y="4846320"/>
            <a:ext cx="1581912" cy="365760"/>
          </a:xfrm>
          <a:prstGeom prst="roundRect">
            <a:avLst>
              <a:gd fmla="val 50000" name="adj"/>
            </a:avLst>
          </a:prstGeom>
          <a:solidFill>
            <a:srgbClr val="343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"/>
          <p:cNvSpPr txBox="1"/>
          <p:nvPr/>
        </p:nvSpPr>
        <p:spPr>
          <a:xfrm>
            <a:off x="9171432" y="4846320"/>
            <a:ext cx="15819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B6F8"/>
              </a:buClr>
              <a:buSzPts val="1300"/>
              <a:buFont typeface="Golos Text"/>
              <a:buNone/>
            </a:pPr>
            <a:r>
              <a:rPr b="0" i="0" lang="en-US" sz="1300" u="none" cap="none" strike="noStrike">
                <a:solidFill>
                  <a:srgbClr val="C2B6F8"/>
                </a:solidFill>
                <a:latin typeface="Golos Text"/>
                <a:ea typeface="Golos Text"/>
                <a:cs typeface="Golos Text"/>
                <a:sym typeface="Golos Text"/>
              </a:rPr>
              <a:t>Анализ рынка</a:t>
            </a:r>
            <a:endParaRPr b="0" i="0" sz="13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4" name="Google Shape;164;p12"/>
          <p:cNvSpPr txBox="1"/>
          <p:nvPr/>
        </p:nvSpPr>
        <p:spPr>
          <a:xfrm>
            <a:off x="548640" y="548640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B7C2"/>
              </a:buClr>
              <a:buSzPts val="1400"/>
              <a:buFont typeface="Golos Text"/>
              <a:buNone/>
            </a:pPr>
            <a:r>
              <a:rPr b="0" i="0" lang="en-US" sz="14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Руководитель проекта — </a:t>
            </a:r>
            <a:r>
              <a:rPr lang="en-US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Claude</a:t>
            </a:r>
            <a:r>
              <a:rPr b="0" i="0" lang="en-US" sz="14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, </a:t>
            </a:r>
            <a:r>
              <a:rPr lang="en-US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компания</a:t>
            </a:r>
            <a:r>
              <a:rPr b="0" i="0" lang="en-US" sz="14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lang="en-US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Anthropic</a:t>
            </a:r>
            <a:r>
              <a:rPr b="0" i="0" lang="en-US" sz="14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5" name="Google Shape;165;p12"/>
          <p:cNvSpPr txBox="1"/>
          <p:nvPr>
            <p:ph idx="4294967295" type="sldNum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594A1"/>
                </a:solidFill>
                <a:latin typeface="Golos Text"/>
                <a:ea typeface="Golos Text"/>
                <a:cs typeface="Golos Text"/>
                <a:sym typeface="Golos Text"/>
              </a:rPr>
              <a:t>‹#›</a:t>
            </a:fld>
            <a:endParaRPr b="0" i="0" sz="1000" u="none" cap="none" strike="noStrike">
              <a:solidFill>
                <a:srgbClr val="9594A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"/>
          <p:cNvSpPr txBox="1"/>
          <p:nvPr/>
        </p:nvSpPr>
        <p:spPr>
          <a:xfrm>
            <a:off x="548640" y="457200"/>
            <a:ext cx="1109441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B6F8"/>
              </a:buClr>
              <a:buSzPts val="1100"/>
              <a:buFont typeface="Golos Text"/>
              <a:buNone/>
            </a:pPr>
            <a:r>
              <a:rPr b="1" i="0" lang="en-US" spc="160" sz="1100" u="none" cap="none" strike="noStrike">
                <a:solidFill>
                  <a:srgbClr val="C2B6F8"/>
                </a:solidFill>
                <a:latin typeface="Golos Text"/>
                <a:ea typeface="Golos Text"/>
                <a:cs typeface="Golos Text"/>
                <a:sym typeface="Golos Text"/>
              </a:rPr>
              <a:t>ЗАПРОС</a:t>
            </a:r>
            <a:endParaRPr b="0" i="0" sz="11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2" name="Google Shape;172;p13"/>
          <p:cNvSpPr txBox="1"/>
          <p:nvPr>
            <p:ph type="title"/>
          </p:nvPr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3200"/>
              <a:buFont typeface="Mulish"/>
              <a:buNone/>
            </a:pPr>
            <a:r>
              <a:rPr b="1" lang="en-US" sz="3200">
                <a:solidFill>
                  <a:srgbClr val="F2F1EC"/>
                </a:solidFill>
                <a:latin typeface="Mulish"/>
                <a:ea typeface="Mulish"/>
                <a:cs typeface="Mulish"/>
                <a:sym typeface="Mulish"/>
              </a:rPr>
              <a:t>Просим 1 млн ₽ на 12 месяцев</a:t>
            </a:r>
            <a:endParaRPr sz="3200"/>
          </a:p>
        </p:txBody>
      </p:sp>
      <p:sp>
        <p:nvSpPr>
          <p:cNvPr id="173" name="Google Shape;173;p13"/>
          <p:cNvSpPr txBox="1"/>
          <p:nvPr/>
        </p:nvSpPr>
        <p:spPr>
          <a:xfrm>
            <a:off x="548640" y="155448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74F0"/>
              </a:buClr>
              <a:buSzPts val="6400"/>
              <a:buFont typeface="Mulish"/>
              <a:buNone/>
            </a:pPr>
            <a:r>
              <a:rPr b="1" i="0" lang="en-US" sz="6400" u="none" cap="none" strike="noStrike">
                <a:solidFill>
                  <a:srgbClr val="8B74F0"/>
                </a:solidFill>
                <a:latin typeface="Mulish"/>
                <a:ea typeface="Mulish"/>
                <a:cs typeface="Mulish"/>
                <a:sym typeface="Mulish"/>
              </a:rPr>
              <a:t>1 млн ₽</a:t>
            </a:r>
            <a:endParaRPr b="0" i="0" sz="6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4" name="Google Shape;174;p13"/>
          <p:cNvSpPr txBox="1"/>
          <p:nvPr/>
        </p:nvSpPr>
        <p:spPr>
          <a:xfrm>
            <a:off x="548640" y="25603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B7C2"/>
              </a:buClr>
              <a:buSzPts val="1400"/>
              <a:buFont typeface="Golos Text"/>
              <a:buNone/>
            </a:pPr>
            <a:r>
              <a:rPr b="0" i="0" lang="en-US" sz="1400" u="none" cap="none" strike="noStrike">
                <a:solidFill>
                  <a:srgbClr val="B8B7C2"/>
                </a:solidFill>
                <a:latin typeface="Golos Text"/>
                <a:ea typeface="Golos Text"/>
                <a:cs typeface="Golos Text"/>
                <a:sym typeface="Golos Text"/>
              </a:rPr>
              <a:t>Грант «Студенческий стартап» Фонда содействия инновациям, 12 месяцев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5" name="Google Shape;175;p13"/>
          <p:cNvSpPr txBox="1"/>
          <p:nvPr/>
        </p:nvSpPr>
        <p:spPr>
          <a:xfrm>
            <a:off x="548640" y="3291840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800"/>
              <a:buFont typeface="Mulish"/>
              <a:buNone/>
            </a:pPr>
            <a:r>
              <a:rPr b="1" i="0" lang="en-US" sz="1800" u="none" cap="none" strike="noStrike">
                <a:solidFill>
                  <a:srgbClr val="F2F1EC"/>
                </a:solidFill>
                <a:latin typeface="Mulish"/>
                <a:ea typeface="Mulish"/>
                <a:cs typeface="Mulish"/>
                <a:sym typeface="Mulish"/>
              </a:rPr>
              <a:t>Результат через 12 месяцев</a:t>
            </a:r>
            <a:endParaRPr b="0" i="0" sz="18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548640" y="3813048"/>
            <a:ext cx="329184" cy="329184"/>
          </a:xfrm>
          <a:prstGeom prst="ellipse">
            <a:avLst/>
          </a:prstGeom>
          <a:solidFill>
            <a:srgbClr val="23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7" name="Google Shape;17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" y="389534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3"/>
          <p:cNvSpPr txBox="1"/>
          <p:nvPr/>
        </p:nvSpPr>
        <p:spPr>
          <a:xfrm>
            <a:off x="1024128" y="3749040"/>
            <a:ext cx="3639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400"/>
              <a:buFont typeface="Golos Text"/>
              <a:buNone/>
            </a:pPr>
            <a:r>
              <a:rPr b="0" i="0" lang="en-US" sz="14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Сверка на реальных данных ГИС МТ, WB и Ozon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548640" y="4361688"/>
            <a:ext cx="329184" cy="329184"/>
          </a:xfrm>
          <a:prstGeom prst="ellipse">
            <a:avLst/>
          </a:prstGeom>
          <a:solidFill>
            <a:srgbClr val="23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" y="444398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3"/>
          <p:cNvSpPr txBox="1"/>
          <p:nvPr/>
        </p:nvSpPr>
        <p:spPr>
          <a:xfrm>
            <a:off x="1024128" y="4297680"/>
            <a:ext cx="3639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400"/>
              <a:buFont typeface="Golos Text"/>
              <a:buNone/>
            </a:pPr>
            <a:r>
              <a:rPr b="0" i="0" lang="en-US" sz="14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20–30 платящих компаний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548640" y="4910328"/>
            <a:ext cx="329184" cy="329184"/>
          </a:xfrm>
          <a:prstGeom prst="ellipse">
            <a:avLst/>
          </a:prstGeom>
          <a:solidFill>
            <a:srgbClr val="23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" name="Google Shape;18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" y="499262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 txBox="1"/>
          <p:nvPr/>
        </p:nvSpPr>
        <p:spPr>
          <a:xfrm>
            <a:off x="1024128" y="4846320"/>
            <a:ext cx="3639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400"/>
              <a:buFont typeface="Golos Text"/>
              <a:buNone/>
            </a:pPr>
            <a:r>
              <a:rPr b="0" i="0" lang="en-US" sz="14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ООО, бизнес-план, товарный знак litekiz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5120640" y="1600200"/>
            <a:ext cx="6522415" cy="4343400"/>
          </a:xfrm>
          <a:prstGeom prst="roundRect">
            <a:avLst>
              <a:gd fmla="val 2526" name="adj"/>
            </a:avLst>
          </a:prstGeom>
          <a:solidFill>
            <a:srgbClr val="26262E"/>
          </a:solidFill>
          <a:ln cap="flat" cmpd="sng" w="9525">
            <a:solidFill>
              <a:srgbClr val="3A3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"/>
          <p:cNvSpPr txBox="1"/>
          <p:nvPr/>
        </p:nvSpPr>
        <p:spPr>
          <a:xfrm>
            <a:off x="5394960" y="1856232"/>
            <a:ext cx="597377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800"/>
              <a:buFont typeface="Mulish"/>
              <a:buNone/>
            </a:pPr>
            <a:r>
              <a:rPr b="1" i="0" lang="en-US" sz="1800" u="none" cap="none" strike="noStrike">
                <a:solidFill>
                  <a:srgbClr val="F2F1EC"/>
                </a:solidFill>
                <a:latin typeface="Mulish"/>
                <a:ea typeface="Mulish"/>
                <a:cs typeface="Mulish"/>
                <a:sym typeface="Mulish"/>
              </a:rPr>
              <a:t>На что пойдут деньги</a:t>
            </a:r>
            <a:endParaRPr b="0" i="0" sz="18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7" name="Google Shape;187;p13"/>
          <p:cNvSpPr txBox="1"/>
          <p:nvPr/>
        </p:nvSpPr>
        <p:spPr>
          <a:xfrm>
            <a:off x="5394960" y="2423160"/>
            <a:ext cx="41449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300"/>
              <a:buFont typeface="Golos Text"/>
              <a:buNone/>
            </a:pPr>
            <a:r>
              <a:rPr b="0" i="0" lang="en-US" sz="13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Оплата труда: 2 разработчика × 12 месяцев</a:t>
            </a:r>
            <a:endParaRPr b="0" i="0" sz="13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9539935" y="242316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400"/>
              <a:buFont typeface="Golos Text"/>
              <a:buNone/>
            </a:pPr>
            <a:r>
              <a:rPr b="1" i="0" lang="en-US" sz="14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700 000 ₽ · 70 %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5394960" y="2752344"/>
            <a:ext cx="5973775" cy="82296"/>
          </a:xfrm>
          <a:prstGeom prst="roundRect">
            <a:avLst>
              <a:gd fmla="val 50000" name="adj"/>
            </a:avLst>
          </a:prstGeom>
          <a:solidFill>
            <a:srgbClr val="2B2B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3"/>
          <p:cNvSpPr/>
          <p:nvPr/>
        </p:nvSpPr>
        <p:spPr>
          <a:xfrm>
            <a:off x="5394960" y="2752344"/>
            <a:ext cx="4181643" cy="82296"/>
          </a:xfrm>
          <a:prstGeom prst="roundRect">
            <a:avLst>
              <a:gd fmla="val 50000" name="adj"/>
            </a:avLst>
          </a:prstGeom>
          <a:solidFill>
            <a:srgbClr val="8B74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3"/>
          <p:cNvSpPr txBox="1"/>
          <p:nvPr/>
        </p:nvSpPr>
        <p:spPr>
          <a:xfrm>
            <a:off x="5394960" y="3026664"/>
            <a:ext cx="41449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300"/>
              <a:buFont typeface="Golos Text"/>
              <a:buNone/>
            </a:pPr>
            <a:r>
              <a:rPr b="0" i="0" lang="en-US" sz="13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Серверы, резервные копии, мониторинг</a:t>
            </a:r>
            <a:endParaRPr b="0" i="0" sz="13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2" name="Google Shape;192;p13"/>
          <p:cNvSpPr txBox="1"/>
          <p:nvPr/>
        </p:nvSpPr>
        <p:spPr>
          <a:xfrm>
            <a:off x="9539935" y="302666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400"/>
              <a:buFont typeface="Golos Text"/>
              <a:buNone/>
            </a:pPr>
            <a:r>
              <a:rPr b="1" i="0" lang="en-US" sz="14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100 000 ₽ · 10 %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5394960" y="3355848"/>
            <a:ext cx="5973775" cy="82296"/>
          </a:xfrm>
          <a:prstGeom prst="roundRect">
            <a:avLst>
              <a:gd fmla="val 50000" name="adj"/>
            </a:avLst>
          </a:prstGeom>
          <a:solidFill>
            <a:srgbClr val="2B2B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3"/>
          <p:cNvSpPr/>
          <p:nvPr/>
        </p:nvSpPr>
        <p:spPr>
          <a:xfrm>
            <a:off x="5394960" y="3355848"/>
            <a:ext cx="597378" cy="82296"/>
          </a:xfrm>
          <a:prstGeom prst="roundRect">
            <a:avLst>
              <a:gd fmla="val 50000" name="adj"/>
            </a:avLst>
          </a:prstGeom>
          <a:solidFill>
            <a:srgbClr val="8B74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3"/>
          <p:cNvSpPr txBox="1"/>
          <p:nvPr/>
        </p:nvSpPr>
        <p:spPr>
          <a:xfrm>
            <a:off x="5394960" y="3630168"/>
            <a:ext cx="41449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300"/>
              <a:buFont typeface="Golos Text"/>
              <a:buNone/>
            </a:pPr>
            <a:r>
              <a:rPr b="0" i="0" lang="en-US" sz="13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Электронная подпись и сертификаты</a:t>
            </a:r>
            <a:endParaRPr b="0" i="0" sz="13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6" name="Google Shape;196;p13"/>
          <p:cNvSpPr txBox="1"/>
          <p:nvPr/>
        </p:nvSpPr>
        <p:spPr>
          <a:xfrm>
            <a:off x="9539935" y="363016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400"/>
              <a:buFont typeface="Golos Text"/>
              <a:buNone/>
            </a:pPr>
            <a:r>
              <a:rPr b="1" i="0" lang="en-US" sz="14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90 000 ₽ · 9 %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5394960" y="3959352"/>
            <a:ext cx="5973775" cy="82296"/>
          </a:xfrm>
          <a:prstGeom prst="roundRect">
            <a:avLst>
              <a:gd fmla="val 50000" name="adj"/>
            </a:avLst>
          </a:prstGeom>
          <a:solidFill>
            <a:srgbClr val="2B2B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3"/>
          <p:cNvSpPr/>
          <p:nvPr/>
        </p:nvSpPr>
        <p:spPr>
          <a:xfrm>
            <a:off x="5394960" y="3959352"/>
            <a:ext cx="537640" cy="82296"/>
          </a:xfrm>
          <a:prstGeom prst="roundRect">
            <a:avLst>
              <a:gd fmla="val 50000" name="adj"/>
            </a:avLst>
          </a:prstGeom>
          <a:solidFill>
            <a:srgbClr val="8B74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"/>
          <p:cNvSpPr txBox="1"/>
          <p:nvPr/>
        </p:nvSpPr>
        <p:spPr>
          <a:xfrm>
            <a:off x="5394960" y="4233672"/>
            <a:ext cx="41449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300"/>
              <a:buFont typeface="Golos Text"/>
              <a:buNone/>
            </a:pPr>
            <a:r>
              <a:rPr lang="en-US" sz="1300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Реклама и раскрутка</a:t>
            </a:r>
            <a:endParaRPr b="0" i="0" sz="13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9539935" y="423367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400"/>
              <a:buFont typeface="Golos Text"/>
              <a:buNone/>
            </a:pPr>
            <a:r>
              <a:rPr b="1" i="0" lang="en-US" sz="14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60 000 ₽ · 6 %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5394960" y="4562856"/>
            <a:ext cx="5973775" cy="82296"/>
          </a:xfrm>
          <a:prstGeom prst="roundRect">
            <a:avLst>
              <a:gd fmla="val 50000" name="adj"/>
            </a:avLst>
          </a:prstGeom>
          <a:solidFill>
            <a:srgbClr val="2B2B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3"/>
          <p:cNvSpPr/>
          <p:nvPr/>
        </p:nvSpPr>
        <p:spPr>
          <a:xfrm>
            <a:off x="5394960" y="4562856"/>
            <a:ext cx="358427" cy="82296"/>
          </a:xfrm>
          <a:prstGeom prst="roundRect">
            <a:avLst>
              <a:gd fmla="val 50000" name="adj"/>
            </a:avLst>
          </a:prstGeom>
          <a:solidFill>
            <a:srgbClr val="8B74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"/>
          <p:cNvSpPr txBox="1"/>
          <p:nvPr/>
        </p:nvSpPr>
        <p:spPr>
          <a:xfrm>
            <a:off x="5394960" y="4837176"/>
            <a:ext cx="41449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300"/>
              <a:buFont typeface="Golos Text"/>
              <a:buNone/>
            </a:pPr>
            <a:r>
              <a:rPr b="0" i="0" lang="en-US" sz="13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Товарный знак litekiz в ФИПС</a:t>
            </a:r>
            <a:endParaRPr b="0" i="0" sz="13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9539935" y="483717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1EC"/>
              </a:buClr>
              <a:buSzPts val="1400"/>
              <a:buFont typeface="Golos Text"/>
              <a:buNone/>
            </a:pPr>
            <a:r>
              <a:rPr b="1" i="0" lang="en-US" sz="1400" u="none" cap="none" strike="noStrike">
                <a:solidFill>
                  <a:srgbClr val="F2F1EC"/>
                </a:solidFill>
                <a:latin typeface="Golos Text"/>
                <a:ea typeface="Golos Text"/>
                <a:cs typeface="Golos Text"/>
                <a:sym typeface="Golos Text"/>
              </a:rPr>
              <a:t>50 000 ₽ · 5 %</a:t>
            </a:r>
            <a:endParaRPr b="0" i="0" sz="1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5394960" y="5166360"/>
            <a:ext cx="5973775" cy="82296"/>
          </a:xfrm>
          <a:prstGeom prst="roundRect">
            <a:avLst>
              <a:gd fmla="val 50000" name="adj"/>
            </a:avLst>
          </a:prstGeom>
          <a:solidFill>
            <a:srgbClr val="2B2B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"/>
          <p:cNvSpPr/>
          <p:nvPr/>
        </p:nvSpPr>
        <p:spPr>
          <a:xfrm>
            <a:off x="5394960" y="5166360"/>
            <a:ext cx="298689" cy="82296"/>
          </a:xfrm>
          <a:prstGeom prst="roundRect">
            <a:avLst>
              <a:gd fmla="val 50000" name="adj"/>
            </a:avLst>
          </a:prstGeom>
          <a:solidFill>
            <a:srgbClr val="8B74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"/>
          <p:cNvSpPr txBox="1"/>
          <p:nvPr/>
        </p:nvSpPr>
        <p:spPr>
          <a:xfrm>
            <a:off x="5394960" y="5486400"/>
            <a:ext cx="597377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594A1"/>
              </a:buClr>
              <a:buSzPts val="1200"/>
              <a:buFont typeface="Golos Text"/>
              <a:buNone/>
            </a:pPr>
            <a:r>
              <a:rPr b="0" i="0" lang="en-US" sz="1200" u="none" cap="none" strike="noStrike">
                <a:solidFill>
                  <a:srgbClr val="9594A1"/>
                </a:solidFill>
                <a:latin typeface="Golos Text"/>
                <a:ea typeface="Golos Text"/>
                <a:cs typeface="Golos Text"/>
                <a:sym typeface="Golos Text"/>
              </a:rPr>
              <a:t>Услуги сторонних организаций — не более 25 % гранта, как требует программа.</a:t>
            </a:r>
            <a:endParaRPr b="0" i="0" sz="12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08" name="Google Shape;208;p13"/>
          <p:cNvSpPr txBox="1"/>
          <p:nvPr>
            <p:ph idx="4294967295" type="sldNum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594A1"/>
                </a:solidFill>
                <a:latin typeface="Golos Text"/>
                <a:ea typeface="Golos Text"/>
                <a:cs typeface="Golos Text"/>
                <a:sym typeface="Golos Text"/>
              </a:rPr>
              <a:t>‹#›</a:t>
            </a:fld>
            <a:endParaRPr b="0" i="0" sz="1000" u="none" cap="none" strike="noStrike">
              <a:solidFill>
                <a:srgbClr val="9594A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itekiz Графит">
  <a:themeElements>
    <a:clrScheme name="litekiz Графит">
      <a:dk1>
        <a:srgbClr val="F2F1EC"/>
      </a:dk1>
      <a:lt1>
        <a:srgbClr val="1D1D23"/>
      </a:lt1>
      <a:dk2>
        <a:srgbClr val="B8B7C2"/>
      </a:dk2>
      <a:lt2>
        <a:srgbClr val="26262E"/>
      </a:lt2>
      <a:accent1>
        <a:srgbClr val="8B74F0"/>
      </a:accent1>
      <a:accent2>
        <a:srgbClr val="F39AAC"/>
      </a:accent2>
      <a:accent3>
        <a:srgbClr val="E8C56C"/>
      </a:accent3>
      <a:accent4>
        <a:srgbClr val="7FD3CC"/>
      </a:accent4>
      <a:accent5>
        <a:srgbClr val="BCC2D6"/>
      </a:accent5>
      <a:accent6>
        <a:srgbClr val="34305C"/>
      </a:accent6>
      <a:hlink>
        <a:srgbClr val="C2B6F8"/>
      </a:hlink>
      <a:folHlink>
        <a:srgbClr val="9594A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itekiz Графит">
  <a:themeElements>
    <a:clrScheme name="litekiz Графит">
      <a:dk1>
        <a:srgbClr val="F2F1EC"/>
      </a:dk1>
      <a:lt1>
        <a:srgbClr val="1D1D23"/>
      </a:lt1>
      <a:dk2>
        <a:srgbClr val="B8B7C2"/>
      </a:dk2>
      <a:lt2>
        <a:srgbClr val="26262E"/>
      </a:lt2>
      <a:accent1>
        <a:srgbClr val="8B74F0"/>
      </a:accent1>
      <a:accent2>
        <a:srgbClr val="F39AAC"/>
      </a:accent2>
      <a:accent3>
        <a:srgbClr val="E8C56C"/>
      </a:accent3>
      <a:accent4>
        <a:srgbClr val="7FD3CC"/>
      </a:accent4>
      <a:accent5>
        <a:srgbClr val="BCC2D6"/>
      </a:accent5>
      <a:accent6>
        <a:srgbClr val="34305C"/>
      </a:accent6>
      <a:hlink>
        <a:srgbClr val="C2B6F8"/>
      </a:hlink>
      <a:folHlink>
        <a:srgbClr val="9594A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